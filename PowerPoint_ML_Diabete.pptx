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68" r:id="rId3"/>
    <p:sldId id="266" r:id="rId4"/>
    <p:sldId id="267" r:id="rId5"/>
    <p:sldId id="257" r:id="rId6"/>
    <p:sldId id="258" r:id="rId7"/>
    <p:sldId id="261" r:id="rId8"/>
    <p:sldId id="259" r:id="rId9"/>
    <p:sldId id="272" r:id="rId10"/>
    <p:sldId id="262" r:id="rId11"/>
    <p:sldId id="260" r:id="rId12"/>
    <p:sldId id="263" r:id="rId13"/>
    <p:sldId id="264" r:id="rId14"/>
    <p:sldId id="265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89BE9-7776-4FCD-AAC3-A31C5FEB8230}" type="datetimeFigureOut">
              <a:rPr lang="fr-FR" smtClean="0"/>
              <a:t>10/10/2026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8B61E-E70A-4F57-B247-23EE87E360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42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à tous. Aujourd'hui, nous vous présentons notre note de cadrage pour une plateforme web universitaire. Ce document est essentiel pour poser les bases de notre projet informatique. Nous sommes l'équipe de Licence 3 Informatique, encadrée par le Professeur Marie Ndiaye. Nous allons vous détailler les points clés de cette initiative. Passons maintenant au contexte de notre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3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35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hdsene41-cmyk/prediction-diabete-machine-learnin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" y="76200"/>
            <a:ext cx="120396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200" y="76200"/>
            <a:ext cx="1295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249870" y="1242054"/>
            <a:ext cx="8572500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253600" y="1567079"/>
            <a:ext cx="10846052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>
                <a:solidFill>
                  <a:srgbClr val="FF6D00"/>
                </a:solidFill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: INTELLIGENCE ARTIFICIELLE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38200" y="4581075"/>
            <a:ext cx="1745671" cy="168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2133" b="1">
              <a:solidFill>
                <a:srgbClr val="1A237E"/>
              </a:solidFill>
              <a:latin typeface="Times New Roman" panose="02020603050405020304" pitchFamily="18" charset="0"/>
              <a:ea typeface="Montserrat ExtraBold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r>
              <a:rPr lang="en-US" sz="2133" b="1">
                <a:solidFill>
                  <a:srgbClr val="1A237E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ENCADREUR</a:t>
            </a:r>
          </a:p>
          <a:p>
            <a:pPr>
              <a:lnSpc>
                <a:spcPct val="128000"/>
              </a:lnSpc>
            </a:pPr>
            <a:r>
              <a:rPr lang="en-US" sz="2133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Yoro Dia</a:t>
            </a:r>
            <a:endParaRPr lang="en-US" sz="2133"/>
          </a:p>
          <a:p>
            <a:pPr>
              <a:lnSpc>
                <a:spcPct val="128000"/>
              </a:lnSpc>
            </a:pP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8201" y="4735749"/>
            <a:ext cx="65" cy="367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18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656051" y="4735749"/>
            <a:ext cx="3206519" cy="168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2133" b="1">
              <a:solidFill>
                <a:srgbClr val="1A237E"/>
              </a:solidFill>
              <a:latin typeface="Times New Roman" panose="02020603050405020304" pitchFamily="18" charset="0"/>
              <a:ea typeface="Montserrat ExtraBold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r>
              <a:rPr lang="en-US" sz="2133" b="1">
                <a:solidFill>
                  <a:srgbClr val="1A237E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ANNÉE UNIVERSITAIRE</a:t>
            </a:r>
          </a:p>
          <a:p>
            <a:pPr>
              <a:lnSpc>
                <a:spcPct val="128000"/>
              </a:lnSpc>
            </a:pPr>
            <a:r>
              <a:rPr lang="en-US" sz="2133" b="1"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   2025 - 2026</a:t>
            </a:r>
            <a:endParaRPr lang="en-US" sz="2133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791201" y="4735749"/>
            <a:ext cx="65" cy="367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18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38201" y="5539410"/>
            <a:ext cx="2736327" cy="1680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2133" b="1">
              <a:solidFill>
                <a:srgbClr val="1A237E"/>
              </a:solidFill>
              <a:latin typeface="Times New Roman" panose="02020603050405020304" pitchFamily="18" charset="0"/>
              <a:ea typeface="Montserrat ExtraBold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r>
              <a:rPr lang="en-US" sz="2133" b="1" smtClean="0">
                <a:solidFill>
                  <a:srgbClr val="1A237E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NIVEAU</a:t>
            </a:r>
            <a:endParaRPr lang="en-US" sz="2133" b="1">
              <a:solidFill>
                <a:srgbClr val="1A237E"/>
              </a:solidFill>
              <a:latin typeface="Times New Roman" panose="02020603050405020304" pitchFamily="18" charset="0"/>
              <a:ea typeface="Montserrat ExtraBold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r>
              <a:rPr lang="en-US" sz="2133" b="1" smtClean="0"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Licence </a:t>
            </a:r>
            <a:r>
              <a:rPr lang="en-US" sz="2133" b="1"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3 Informatique</a:t>
            </a:r>
            <a:endParaRPr lang="en-US" sz="2133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38201" y="5712954"/>
            <a:ext cx="65" cy="367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18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817704" y="5610053"/>
            <a:ext cx="2053960" cy="2100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2133" b="1">
              <a:solidFill>
                <a:srgbClr val="1A237E"/>
              </a:solidFill>
              <a:latin typeface="Times New Roman" panose="02020603050405020304" pitchFamily="18" charset="0"/>
              <a:ea typeface="Montserrat ExtraBold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r>
              <a:rPr lang="en-US" sz="2133" b="1">
                <a:solidFill>
                  <a:srgbClr val="1A237E"/>
                </a:solidFill>
                <a:latin typeface="Times New Roman" panose="02020603050405020304" pitchFamily="18" charset="0"/>
                <a:ea typeface="Montserrat ExtraBold" pitchFamily="34" charset="-122"/>
                <a:cs typeface="Times New Roman" panose="02020603050405020304" pitchFamily="18" charset="0"/>
              </a:rPr>
              <a:t>PRÉSENTÉ PAR</a:t>
            </a:r>
          </a:p>
          <a:p>
            <a:pPr>
              <a:lnSpc>
                <a:spcPct val="128000"/>
              </a:lnSpc>
            </a:pPr>
            <a:r>
              <a:rPr lang="en-US" sz="2133" b="1">
                <a:latin typeface="Times New Roman" panose="02020603050405020304" pitchFamily="18" charset="0"/>
                <a:ea typeface="Montserrat Light" pitchFamily="34" charset="-122"/>
                <a:cs typeface="Times New Roman" panose="02020603050405020304" pitchFamily="18" charset="0"/>
              </a:rPr>
              <a:t> Mouhamed Sene</a:t>
            </a:r>
            <a:endParaRPr lang="en-US" sz="2133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endParaRPr lang="en-US" sz="2133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8000"/>
              </a:lnSpc>
            </a:pP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791201" y="5712954"/>
            <a:ext cx="65" cy="367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18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791201" y="5987245"/>
            <a:ext cx="65" cy="367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18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791201" y="6261535"/>
            <a:ext cx="65" cy="367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endParaRPr lang="en-US" sz="18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038129" y="5798345"/>
            <a:ext cx="6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0576290" y="5798345"/>
            <a:ext cx="6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1310908" y="5798345"/>
            <a:ext cx="6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1947892" y="5798345"/>
            <a:ext cx="65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10910608" y="5539410"/>
            <a:ext cx="1408149" cy="1313303"/>
          </a:xfrm>
          <a:prstGeom prst="ellipse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2" name="Ellipse 21"/>
          <p:cNvSpPr/>
          <p:nvPr/>
        </p:nvSpPr>
        <p:spPr>
          <a:xfrm>
            <a:off x="9083647" y="5539410"/>
            <a:ext cx="1408149" cy="1313303"/>
          </a:xfrm>
          <a:prstGeom prst="ellipse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3" name="Rectangle 22"/>
          <p:cNvSpPr/>
          <p:nvPr/>
        </p:nvSpPr>
        <p:spPr>
          <a:xfrm>
            <a:off x="542538" y="76202"/>
            <a:ext cx="11657745" cy="1370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33" b="1">
                <a:solidFill>
                  <a:srgbClr val="1A365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</a:p>
          <a:p>
            <a:pPr algn="ctr"/>
            <a:r>
              <a:rPr lang="en-US" sz="4800" b="1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Prédiction du diabète par Machine </a:t>
            </a:r>
            <a:r>
              <a:rPr lang="en-US" sz="4800" b="1" smtClean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</a:t>
            </a:r>
            <a:endParaRPr lang="en-US" sz="4800" b="1">
              <a:solidFill>
                <a:schemeClr val="bg1"/>
              </a:solidFill>
            </a:endParaRPr>
          </a:p>
          <a:p>
            <a:pPr algn="ctr"/>
            <a:endParaRPr lang="fr-FR" sz="4800"/>
          </a:p>
        </p:txBody>
      </p:sp>
      <p:sp>
        <p:nvSpPr>
          <p:cNvPr id="24" name="Rectangle 23"/>
          <p:cNvSpPr/>
          <p:nvPr/>
        </p:nvSpPr>
        <p:spPr>
          <a:xfrm>
            <a:off x="3472070" y="2166395"/>
            <a:ext cx="5390500" cy="275325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63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10287047" y="110557"/>
            <a:ext cx="2560225" cy="1898962"/>
          </a:xfrm>
          <a:prstGeom prst="ellipse">
            <a:avLst/>
          </a:prstGeom>
          <a:solidFill>
            <a:srgbClr val="1A237E"/>
          </a:solidFill>
          <a:ln w="73152">
            <a:solidFill>
              <a:srgbClr val="FF6D00"/>
            </a:solidFill>
            <a:prstDash val="solid"/>
          </a:ln>
        </p:spPr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0375C"/>
                </a:solidFill>
                <a:latin typeface="Times New Roman"/>
              </a:rPr>
              <a:t>PLAN DE LA PRÉSENTATION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7435" y="2167014"/>
            <a:ext cx="28725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smtClean="0">
                <a:solidFill>
                  <a:srgbClr val="FFFFFF"/>
                </a:solidFill>
                <a:latin typeface="Times New Roman"/>
              </a:rPr>
              <a:t>0</a:t>
            </a:r>
            <a:endParaRPr sz="1600" b="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23081" y="1950289"/>
            <a:ext cx="5669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7337" y="6473952"/>
            <a:ext cx="37998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2/14</a:t>
            </a:r>
          </a:p>
        </p:txBody>
      </p:sp>
      <p:sp>
        <p:nvSpPr>
          <p:cNvPr id="38" name="Rectangle à coins arrondis 37"/>
          <p:cNvSpPr/>
          <p:nvPr/>
        </p:nvSpPr>
        <p:spPr>
          <a:xfrm>
            <a:off x="9255526" y="2068446"/>
            <a:ext cx="2684143" cy="4173327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>
              <a:contourClr>
                <a:srgbClr val="00B050"/>
              </a:contourClr>
            </a:sp3d>
          </a:bodyPr>
          <a:lstStyle/>
          <a:p>
            <a:pPr algn="ctr"/>
            <a:endParaRPr lang="fr-FR" sz="4000" b="1" smtClean="0">
              <a:solidFill>
                <a:srgbClr val="00B050"/>
              </a:solidFill>
              <a:latin typeface="Times New Roman"/>
            </a:endParaRPr>
          </a:p>
          <a:p>
            <a:pPr algn="ctr"/>
            <a:r>
              <a:rPr lang="fr-FR" sz="4000" b="1" smtClean="0">
                <a:solidFill>
                  <a:srgbClr val="00B050"/>
                </a:solidFill>
                <a:latin typeface="Times New Roman"/>
              </a:rPr>
              <a:t>04</a:t>
            </a:r>
          </a:p>
          <a:p>
            <a:pPr algn="ctr"/>
            <a:r>
              <a:rPr lang="fr-FR" b="1" smtClean="0">
                <a:solidFill>
                  <a:srgbClr val="10375C"/>
                </a:solidFill>
                <a:latin typeface="Times New Roman"/>
              </a:rPr>
              <a:t>ANALYSER </a:t>
            </a:r>
            <a:r>
              <a:rPr lang="fr-FR" b="1">
                <a:solidFill>
                  <a:srgbClr val="10375C"/>
                </a:solidFill>
                <a:latin typeface="Times New Roman"/>
              </a:rPr>
              <a:t>&amp; CONCLURE</a:t>
            </a:r>
          </a:p>
          <a:p>
            <a:pPr algn="ctr"/>
            <a:endParaRPr lang="fr-FR" smtClean="0">
              <a:solidFill>
                <a:schemeClr val="tx1"/>
              </a:solidFill>
              <a:latin typeface="Times New Roman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fr-FR" sz="2400" smtClean="0">
                <a:solidFill>
                  <a:schemeClr val="tx1"/>
                </a:solidFill>
                <a:latin typeface="Times New Roman"/>
              </a:rPr>
              <a:t>Variables </a:t>
            </a:r>
            <a:r>
              <a:rPr lang="fr-FR" sz="2400">
                <a:solidFill>
                  <a:schemeClr val="tx1"/>
                </a:solidFill>
                <a:latin typeface="Times New Roman"/>
              </a:rPr>
              <a:t>importantes
Choix de Random Forest
Limites
Accès au projet GitHub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fr-FR" sz="2400">
              <a:solidFill>
                <a:schemeClr val="tx1"/>
              </a:solidFill>
            </a:endParaRPr>
          </a:p>
        </p:txBody>
      </p:sp>
      <p:sp>
        <p:nvSpPr>
          <p:cNvPr id="42" name="Rectangle à coins arrondis 41"/>
          <p:cNvSpPr/>
          <p:nvPr/>
        </p:nvSpPr>
        <p:spPr>
          <a:xfrm>
            <a:off x="105217" y="2126479"/>
            <a:ext cx="2761365" cy="392506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>
              <a:contourClr>
                <a:srgbClr val="00B050"/>
              </a:contourClr>
            </a:sp3d>
          </a:bodyPr>
          <a:lstStyle/>
          <a:p>
            <a:pPr algn="ctr"/>
            <a:r>
              <a:rPr lang="fr-FR" sz="4000" b="1" smtClean="0">
                <a:solidFill>
                  <a:srgbClr val="00B0F0"/>
                </a:solidFill>
                <a:latin typeface="Times New Roman"/>
              </a:rPr>
              <a:t>01</a:t>
            </a:r>
          </a:p>
          <a:p>
            <a:pPr algn="ctr"/>
            <a:r>
              <a:rPr lang="fr-FR" b="1">
                <a:solidFill>
                  <a:srgbClr val="10375C"/>
                </a:solidFill>
                <a:latin typeface="Times New Roman"/>
              </a:rPr>
              <a:t>COMPRENDRE</a:t>
            </a:r>
          </a:p>
          <a:p>
            <a:pPr algn="ctr"/>
            <a:endParaRPr lang="fr-FR" b="1" smtClean="0">
              <a:solidFill>
                <a:srgbClr val="10375C"/>
              </a:solidFill>
              <a:latin typeface="Times New Roman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fr-FR" sz="2400" smtClean="0">
                <a:solidFill>
                  <a:schemeClr val="tx1"/>
                </a:solidFill>
                <a:latin typeface="Times New Roman"/>
              </a:rPr>
              <a:t>Problématique
Objectif</a:t>
            </a:r>
            <a:r>
              <a:rPr lang="fr-FR" sz="2400">
                <a:solidFill>
                  <a:schemeClr val="tx1"/>
                </a:solidFill>
                <a:latin typeface="Times New Roman"/>
              </a:rPr>
              <a:t>
Variables du dataset</a:t>
            </a:r>
          </a:p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3" name="Rectangle à coins arrondis 42"/>
          <p:cNvSpPr/>
          <p:nvPr/>
        </p:nvSpPr>
        <p:spPr>
          <a:xfrm>
            <a:off x="6172708" y="2068447"/>
            <a:ext cx="2805789" cy="390202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>
              <a:contourClr>
                <a:srgbClr val="00B050"/>
              </a:contourClr>
            </a:sp3d>
          </a:bodyPr>
          <a:lstStyle/>
          <a:p>
            <a:pPr algn="ctr"/>
            <a:endParaRPr lang="fr-FR" sz="4000" b="1" smtClean="0">
              <a:solidFill>
                <a:srgbClr val="002060"/>
              </a:solidFill>
              <a:latin typeface="Times New Roman"/>
            </a:endParaRPr>
          </a:p>
          <a:p>
            <a:pPr algn="ctr"/>
            <a:endParaRPr lang="fr-FR" sz="4000" b="1">
              <a:solidFill>
                <a:srgbClr val="002060"/>
              </a:solidFill>
              <a:latin typeface="Times New Roman"/>
            </a:endParaRPr>
          </a:p>
          <a:p>
            <a:pPr algn="ctr"/>
            <a:r>
              <a:rPr lang="fr-FR" sz="4000" b="1" smtClean="0">
                <a:solidFill>
                  <a:srgbClr val="002060"/>
                </a:solidFill>
                <a:latin typeface="Times New Roman"/>
              </a:rPr>
              <a:t>03</a:t>
            </a:r>
          </a:p>
          <a:p>
            <a:pPr algn="ctr"/>
            <a:r>
              <a:rPr lang="fr-FR" b="1" smtClean="0">
                <a:solidFill>
                  <a:srgbClr val="10375C"/>
                </a:solidFill>
                <a:latin typeface="Times New Roman"/>
              </a:rPr>
              <a:t>PRÉDIRE &amp; ÉVALUER</a:t>
            </a:r>
          </a:p>
          <a:p>
            <a:pPr algn="ctr"/>
            <a:endParaRPr lang="fr-FR" smtClean="0">
              <a:solidFill>
                <a:schemeClr val="tx1"/>
              </a:solidFill>
              <a:latin typeface="Times New Roman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fr-FR" sz="2400" smtClean="0">
                <a:solidFill>
                  <a:schemeClr val="tx1"/>
                </a:solidFill>
                <a:latin typeface="Times New Roman"/>
              </a:rPr>
              <a:t>Classe </a:t>
            </a:r>
            <a:r>
              <a:rPr lang="fr-FR" sz="2400">
                <a:solidFill>
                  <a:schemeClr val="tx1"/>
                </a:solidFill>
                <a:latin typeface="Times New Roman"/>
              </a:rPr>
              <a:t>0 / 1
Métriques
Matrice de confusion
ROC / AUC</a:t>
            </a:r>
          </a:p>
          <a:p>
            <a:pPr algn="ctr"/>
            <a:endParaRPr lang="fr-FR" b="1" smtClean="0">
              <a:solidFill>
                <a:schemeClr val="tx1"/>
              </a:solidFill>
              <a:latin typeface="Times New Roman"/>
            </a:endParaRPr>
          </a:p>
          <a:p>
            <a:pPr algn="ctr"/>
            <a:endParaRPr lang="fr-FR" b="1" smtClean="0">
              <a:solidFill>
                <a:schemeClr val="tx1"/>
              </a:solidFill>
              <a:latin typeface="Times New Roman"/>
            </a:endParaRPr>
          </a:p>
          <a:p>
            <a:pPr algn="ctr"/>
            <a:endParaRPr lang="fr-FR" b="1" smtClean="0">
              <a:solidFill>
                <a:schemeClr val="tx1"/>
              </a:solidFill>
              <a:latin typeface="Times New Roman"/>
            </a:endParaRPr>
          </a:p>
          <a:p>
            <a:pPr algn="ctr"/>
            <a:endParaRPr lang="fr-FR" b="1" smtClean="0">
              <a:solidFill>
                <a:srgbClr val="10375C"/>
              </a:solidFill>
              <a:latin typeface="Times New Roman"/>
            </a:endParaRPr>
          </a:p>
        </p:txBody>
      </p:sp>
      <p:sp>
        <p:nvSpPr>
          <p:cNvPr id="44" name="Rectangle à coins arrondis 43"/>
          <p:cNvSpPr/>
          <p:nvPr/>
        </p:nvSpPr>
        <p:spPr>
          <a:xfrm>
            <a:off x="3215077" y="2068447"/>
            <a:ext cx="2738286" cy="3925062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contourW="12700">
              <a:contourClr>
                <a:srgbClr val="00B050"/>
              </a:contourClr>
            </a:sp3d>
          </a:bodyPr>
          <a:lstStyle/>
          <a:p>
            <a:pPr algn="ctr"/>
            <a:r>
              <a:rPr lang="fr-FR" sz="4000" b="1" smtClean="0">
                <a:solidFill>
                  <a:schemeClr val="accent6">
                    <a:lumMod val="75000"/>
                  </a:schemeClr>
                </a:solidFill>
                <a:latin typeface="Times New Roman"/>
              </a:rPr>
              <a:t>02</a:t>
            </a:r>
          </a:p>
          <a:p>
            <a:pPr algn="ctr"/>
            <a:r>
              <a:rPr lang="fr-FR" b="1">
                <a:solidFill>
                  <a:srgbClr val="10375C"/>
                </a:solidFill>
                <a:latin typeface="Times New Roman"/>
              </a:rPr>
              <a:t>PRÉPARER</a:t>
            </a:r>
          </a:p>
          <a:p>
            <a:pPr algn="ctr"/>
            <a:endParaRPr lang="fr-FR" b="1">
              <a:solidFill>
                <a:srgbClr val="10375C"/>
              </a:solidFill>
              <a:latin typeface="Times New Roman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fr-FR" sz="2400" smtClean="0">
                <a:solidFill>
                  <a:srgbClr val="191F26"/>
                </a:solidFill>
                <a:latin typeface="Times New Roman"/>
              </a:rPr>
              <a:t>Nettoyage-Inputation</a:t>
            </a:r>
            <a:r>
              <a:rPr lang="fr-FR" sz="2400">
                <a:solidFill>
                  <a:srgbClr val="191F26"/>
                </a:solidFill>
                <a:latin typeface="Times New Roman"/>
              </a:rPr>
              <a:t>
Valeurs manquantes
Entraînement des modèles</a:t>
            </a:r>
          </a:p>
          <a:p>
            <a:pPr algn="ctr"/>
            <a:endParaRPr lang="fr-FR" b="1" smtClean="0">
              <a:solidFill>
                <a:srgbClr val="10375C"/>
              </a:solidFill>
              <a:latin typeface="Times New Roman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7269" y="157921"/>
            <a:ext cx="2088269" cy="161336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2" grpId="0" animBg="1"/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68A8"/>
                </a:solidFill>
                <a:latin typeface="Times New Roman"/>
              </a:rPr>
              <a:t>01 —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058"/>
                </a:solidFill>
                <a:latin typeface="Times New Roman"/>
              </a:rPr>
              <a:t>Pourquoi utiliser le Machine Learning pour prédire le diabète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121990"/>
            <a:ext cx="5104736" cy="4066775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fr-FR" sz="2000" b="1">
                <a:solidFill>
                  <a:srgbClr val="2B68A8"/>
                </a:solidFill>
                <a:latin typeface="Times New Roman"/>
              </a:rPr>
              <a:t>LA PROBLÉMATIQUE</a:t>
            </a:r>
          </a:p>
          <a:p>
            <a:pPr lvl="0"/>
            <a:endParaRPr lang="fr-FR" sz="2000" b="1">
              <a:solidFill>
                <a:srgbClr val="2B68A8"/>
              </a:solidFill>
              <a:latin typeface="Times New Roman"/>
            </a:endParaRPr>
          </a:p>
          <a:p>
            <a:pPr lvl="0"/>
            <a:r>
              <a:rPr lang="fr-FR" sz="2000">
                <a:solidFill>
                  <a:prstClr val="black"/>
                </a:solidFill>
                <a:latin typeface="Times New Roman"/>
              </a:rPr>
              <a:t>À partir de 8 caractéristiques médicales d’un individu, </a:t>
            </a:r>
            <a:r>
              <a:rPr lang="fr-FR" sz="2000" smtClean="0">
                <a:solidFill>
                  <a:prstClr val="black"/>
                </a:solidFill>
                <a:latin typeface="Times New Roman"/>
              </a:rPr>
              <a:t>peut-on construire </a:t>
            </a:r>
            <a:r>
              <a:rPr lang="fr-FR" sz="2000">
                <a:solidFill>
                  <a:prstClr val="black"/>
                </a:solidFill>
                <a:latin typeface="Times New Roman"/>
              </a:rPr>
              <a:t>un modèle capable de prédire s’il appartient à la classe « diabétique » ou « non diabétique » ?</a:t>
            </a:r>
          </a:p>
          <a:p>
            <a:pPr lvl="0"/>
            <a:endParaRPr lang="fr-FR" sz="2000">
              <a:solidFill>
                <a:prstClr val="black"/>
              </a:solidFill>
              <a:latin typeface="Times New Roman"/>
            </a:endParaRPr>
          </a:p>
          <a:p>
            <a:pPr lvl="0"/>
            <a:r>
              <a:rPr lang="fr-FR" sz="2000">
                <a:solidFill>
                  <a:prstClr val="black"/>
                </a:solidFill>
                <a:latin typeface="Times New Roman"/>
              </a:rPr>
              <a:t>   </a:t>
            </a:r>
            <a:r>
              <a:rPr lang="fr-FR" sz="2000" b="1">
                <a:solidFill>
                  <a:prstClr val="black"/>
                </a:solidFill>
                <a:latin typeface="Times New Roman"/>
              </a:rPr>
              <a:t>Le résultat attendu est une classe :</a:t>
            </a:r>
          </a:p>
          <a:p>
            <a:pPr lvl="0"/>
            <a:r>
              <a:rPr lang="fr-FR" sz="2000" b="1">
                <a:solidFill>
                  <a:srgbClr val="00B050"/>
                </a:solidFill>
                <a:latin typeface="Times New Roman"/>
              </a:rPr>
              <a:t>       1                                     </a:t>
            </a:r>
            <a:r>
              <a:rPr lang="fr-FR" sz="2000" b="1">
                <a:solidFill>
                  <a:srgbClr val="FF0000"/>
                </a:solidFill>
                <a:latin typeface="Times New Roman"/>
              </a:rPr>
              <a:t>0</a:t>
            </a:r>
          </a:p>
          <a:p>
            <a:pPr lvl="0"/>
            <a:r>
              <a:rPr lang="fr-FR" sz="2000" b="1">
                <a:solidFill>
                  <a:srgbClr val="00B050"/>
                </a:solidFill>
                <a:latin typeface="Times New Roman"/>
              </a:rPr>
              <a:t>Diabetique                    </a:t>
            </a:r>
            <a:r>
              <a:rPr lang="fr-FR" sz="2000" b="1">
                <a:solidFill>
                  <a:srgbClr val="FF0000"/>
                </a:solidFill>
                <a:latin typeface="Times New Roman"/>
              </a:rPr>
              <a:t>Non diabetique</a:t>
            </a:r>
          </a:p>
          <a:p>
            <a:pPr lvl="0"/>
            <a:endParaRPr lang="fr-FR" sz="2000" b="1">
              <a:solidFill>
                <a:srgbClr val="00B050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4556876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400" b="0">
              <a:solidFill>
                <a:srgbClr val="5A6470"/>
              </a:solidFill>
              <a:latin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52159" y="2065924"/>
            <a:ext cx="6233824" cy="4122841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fr-FR" sz="2000" b="1">
              <a:solidFill>
                <a:srgbClr val="2B68A8"/>
              </a:solidFill>
              <a:latin typeface="Times New Roman"/>
            </a:endParaRPr>
          </a:p>
          <a:p>
            <a:pPr lvl="0"/>
            <a:endParaRPr lang="fr-FR" sz="2000" b="1" smtClean="0">
              <a:solidFill>
                <a:srgbClr val="2B68A8"/>
              </a:solidFill>
              <a:latin typeface="Times New Roman"/>
            </a:endParaRPr>
          </a:p>
          <a:p>
            <a:pPr lvl="0"/>
            <a:r>
              <a:rPr lang="fr-FR" sz="2000" b="1" smtClean="0">
                <a:solidFill>
                  <a:srgbClr val="2B68A8"/>
                </a:solidFill>
                <a:latin typeface="Times New Roman"/>
              </a:rPr>
              <a:t>LES </a:t>
            </a:r>
            <a:r>
              <a:rPr lang="fr-FR" sz="2000" b="1">
                <a:solidFill>
                  <a:srgbClr val="2B68A8"/>
                </a:solidFill>
                <a:latin typeface="Times New Roman"/>
              </a:rPr>
              <a:t>OBJECTIFS DU </a:t>
            </a:r>
            <a:r>
              <a:rPr lang="fr-FR" sz="2000" b="1" smtClean="0">
                <a:solidFill>
                  <a:srgbClr val="2B68A8"/>
                </a:solidFill>
                <a:latin typeface="Times New Roman"/>
              </a:rPr>
              <a:t>PROJET</a:t>
            </a:r>
          </a:p>
          <a:p>
            <a:pPr lvl="0"/>
            <a:endParaRPr lang="fr-FR" sz="2000" b="1">
              <a:solidFill>
                <a:srgbClr val="2B68A8"/>
              </a:solidFill>
              <a:latin typeface="Times New Roman"/>
            </a:endParaRPr>
          </a:p>
          <a:p>
            <a:pPr marL="285750" lvl="0" indent="-285750">
              <a:spcAft>
                <a:spcPts val="400"/>
              </a:spcAft>
              <a:buFont typeface="Wingdings" panose="05000000000000000000" pitchFamily="2" charset="2"/>
              <a:buChar char="q"/>
              <a:defRPr sz="1400">
                <a:solidFill>
                  <a:srgbClr val="191E23"/>
                </a:solidFill>
                <a:latin typeface="Times New Roman"/>
              </a:defRPr>
            </a:pPr>
            <a:r>
              <a:rPr lang="fr-FR" sz="1600">
                <a:solidFill>
                  <a:srgbClr val="191E23"/>
                </a:solidFill>
                <a:latin typeface="Times New Roman"/>
              </a:rPr>
              <a:t>• Préparer et nettoyer les données avant l’apprentissage.</a:t>
            </a:r>
          </a:p>
          <a:p>
            <a:pPr marL="285750" lvl="0" indent="-285750">
              <a:spcAft>
                <a:spcPts val="400"/>
              </a:spcAft>
              <a:buFont typeface="Wingdings" panose="05000000000000000000" pitchFamily="2" charset="2"/>
              <a:buChar char="q"/>
              <a:defRPr sz="1400">
                <a:solidFill>
                  <a:srgbClr val="191E23"/>
                </a:solidFill>
                <a:latin typeface="Times New Roman"/>
              </a:defRPr>
            </a:pPr>
            <a:r>
              <a:rPr lang="fr-FR" sz="1600">
                <a:solidFill>
                  <a:srgbClr val="191E23"/>
                </a:solidFill>
                <a:latin typeface="Times New Roman"/>
              </a:rPr>
              <a:t>• Comparer trois modèles : Régression Logistique, Arbre de Décision et Random Forest.</a:t>
            </a:r>
          </a:p>
          <a:p>
            <a:pPr marL="285750" lvl="0" indent="-285750">
              <a:spcAft>
                <a:spcPts val="400"/>
              </a:spcAft>
              <a:buFont typeface="Wingdings" panose="05000000000000000000" pitchFamily="2" charset="2"/>
              <a:buChar char="q"/>
              <a:defRPr sz="1400">
                <a:solidFill>
                  <a:srgbClr val="191E23"/>
                </a:solidFill>
                <a:latin typeface="Times New Roman"/>
              </a:defRPr>
            </a:pPr>
            <a:r>
              <a:rPr lang="fr-FR" sz="1600">
                <a:solidFill>
                  <a:srgbClr val="191E23"/>
                </a:solidFill>
                <a:latin typeface="Times New Roman"/>
              </a:rPr>
              <a:t>• Évaluer les modèles avec Accuracy, Precision, Recall et F1-score.</a:t>
            </a:r>
          </a:p>
          <a:p>
            <a:pPr marL="285750" lvl="0" indent="-285750">
              <a:spcAft>
                <a:spcPts val="400"/>
              </a:spcAft>
              <a:buFont typeface="Wingdings" panose="05000000000000000000" pitchFamily="2" charset="2"/>
              <a:buChar char="q"/>
              <a:defRPr sz="1400">
                <a:solidFill>
                  <a:srgbClr val="191E23"/>
                </a:solidFill>
                <a:latin typeface="Times New Roman"/>
              </a:defRPr>
            </a:pPr>
            <a:r>
              <a:rPr lang="fr-FR" sz="1600">
                <a:solidFill>
                  <a:srgbClr val="191E23"/>
                </a:solidFill>
                <a:latin typeface="Times New Roman"/>
              </a:rPr>
              <a:t>• Comprendre quelles variables contribuent le plus à la prédiction.</a:t>
            </a:r>
          </a:p>
          <a:p>
            <a:pPr marL="285750" lvl="0" indent="-285750">
              <a:spcAft>
                <a:spcPts val="400"/>
              </a:spcAft>
              <a:buFont typeface="Wingdings" panose="05000000000000000000" pitchFamily="2" charset="2"/>
              <a:buChar char="q"/>
              <a:defRPr sz="1400">
                <a:solidFill>
                  <a:srgbClr val="191E23"/>
                </a:solidFill>
                <a:latin typeface="Times New Roman"/>
              </a:defRPr>
            </a:pPr>
            <a:r>
              <a:rPr lang="fr-FR" sz="1600">
                <a:solidFill>
                  <a:srgbClr val="191E23"/>
                </a:solidFill>
                <a:latin typeface="Times New Roman"/>
              </a:rPr>
              <a:t>• Analyser les bonnes prédictions et les erreurs grâce à la matrice de confusion.</a:t>
            </a:r>
          </a:p>
          <a:p>
            <a:pPr marL="285750" lvl="0" indent="-285750">
              <a:spcAft>
                <a:spcPts val="400"/>
              </a:spcAft>
              <a:buFont typeface="Wingdings" panose="05000000000000000000" pitchFamily="2" charset="2"/>
              <a:buChar char="q"/>
              <a:defRPr sz="1400">
                <a:solidFill>
                  <a:srgbClr val="191E23"/>
                </a:solidFill>
                <a:latin typeface="Times New Roman"/>
              </a:defRPr>
            </a:pPr>
            <a:r>
              <a:rPr lang="fr-FR" sz="1600">
                <a:solidFill>
                  <a:srgbClr val="191E23"/>
                </a:solidFill>
                <a:latin typeface="Times New Roman"/>
              </a:rPr>
              <a:t>• Choisir le modèle le plus performant sur les données de test.</a:t>
            </a:r>
          </a:p>
          <a:p>
            <a:pPr lvl="0">
              <a:spcAft>
                <a:spcPts val="400"/>
              </a:spcAft>
              <a:defRPr sz="1400">
                <a:solidFill>
                  <a:srgbClr val="191E23"/>
                </a:solidFill>
                <a:latin typeface="Times New Roman"/>
              </a:defRPr>
            </a:pPr>
            <a:endParaRPr lang="fr-FR" sz="1600" b="1">
              <a:solidFill>
                <a:srgbClr val="BE701E"/>
              </a:solidFill>
              <a:latin typeface="Times New Roman"/>
            </a:endParaRPr>
          </a:p>
          <a:p>
            <a:pPr lvl="0">
              <a:spcAft>
                <a:spcPts val="400"/>
              </a:spcAft>
              <a:defRPr sz="1400">
                <a:solidFill>
                  <a:srgbClr val="191E23"/>
                </a:solidFill>
                <a:latin typeface="Times New Roman"/>
              </a:defRPr>
            </a:pPr>
            <a:endParaRPr lang="fr-FR" sz="1600">
              <a:solidFill>
                <a:srgbClr val="191E23"/>
              </a:solidFill>
              <a:latin typeface="Times New Roman"/>
            </a:endParaRPr>
          </a:p>
          <a:p>
            <a:pPr lvl="0"/>
            <a:endParaRPr lang="fr-FR" sz="1600" b="1">
              <a:solidFill>
                <a:srgbClr val="2B68A8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546643"/>
            <a:ext cx="5074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600" b="1">
              <a:solidFill>
                <a:srgbClr val="2B68A8"/>
              </a:solidFill>
              <a:latin typeface="Times New Roman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1220260"/>
            <a:ext cx="1051560" cy="411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2021" y="1267823"/>
            <a:ext cx="96306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fr-FR" sz="2000"/>
              <a:t>Le Machine Learning est une </a:t>
            </a:r>
            <a:r>
              <a:rPr lang="fr-FR" sz="2000" smtClean="0"/>
              <a:t>sous branche de l’intelligence artificielle, </a:t>
            </a:r>
            <a:r>
              <a:rPr lang="fr-FR" sz="2000"/>
              <a:t>qui </a:t>
            </a:r>
            <a:r>
              <a:rPr lang="fr-FR" sz="2000" smtClean="0"/>
              <a:t>nous permettra </a:t>
            </a:r>
            <a:r>
              <a:rPr lang="fr-FR" sz="2000"/>
              <a:t>d’analyser les données médicales pour aider à prédire le diabète.</a:t>
            </a:r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28" name="Rectangle 27"/>
          <p:cNvSpPr/>
          <p:nvPr/>
        </p:nvSpPr>
        <p:spPr>
          <a:xfrm>
            <a:off x="7961262" y="6488668"/>
            <a:ext cx="4242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>
                <a:solidFill>
                  <a:srgbClr val="002060"/>
                </a:solidFill>
                <a:latin typeface="Times New Roman"/>
              </a:rPr>
              <a:t>Projet ML — Prédiction du diabète   |   3/14</a:t>
            </a:r>
          </a:p>
        </p:txBody>
      </p:sp>
      <p:sp>
        <p:nvSpPr>
          <p:cNvPr id="6" name="Ellipse 5"/>
          <p:cNvSpPr/>
          <p:nvPr/>
        </p:nvSpPr>
        <p:spPr>
          <a:xfrm>
            <a:off x="10214689" y="232895"/>
            <a:ext cx="2040835" cy="1650426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447" y="42703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B68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— COMPRENDRE LES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signifie chaque variable du jeu de données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41341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latin typeface="Times New Roman" panose="02020603050405020304" pitchFamily="18" charset="0"/>
                <a:cs typeface="Times New Roman" panose="02020603050405020304" pitchFamily="18" charset="0"/>
              </a:rPr>
              <a:t>Les 8 variables sont les informations utilisées par les modèles pour produire la prédiction. « Outcome » est la variable 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87672"/>
            <a:ext cx="3703320" cy="4183944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" y="2014798"/>
            <a:ext cx="38679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68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MÉDICALES (ENTRÉES)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1417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Pregnancies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2556" y="2445013"/>
            <a:ext cx="204825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latin typeface="Times New Roman" panose="02020603050405020304" pitchFamily="18" charset="0"/>
                <a:cs typeface="Times New Roman" panose="02020603050405020304" pitchFamily="18" charset="0"/>
              </a:rPr>
              <a:t>Nombre de grossesses.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72968"/>
            <a:ext cx="1417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Glucose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154679"/>
            <a:ext cx="2048256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latin typeface="Times New Roman" panose="02020603050405020304" pitchFamily="18" charset="0"/>
                <a:cs typeface="Times New Roman" panose="02020603050405020304" pitchFamily="18" charset="0"/>
              </a:rPr>
              <a:t>Taux de glucose dans le sang.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3922776"/>
            <a:ext cx="188737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967488"/>
            <a:ext cx="175564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Pression artérielle diastolique</a:t>
            </a:r>
            <a:r>
              <a:rPr sz="1100" b="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72584"/>
            <a:ext cx="181051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SkinThickness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323" y="4771156"/>
            <a:ext cx="175564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Épaisseur du pli cutané</a:t>
            </a:r>
            <a:r>
              <a:rPr sz="1100" b="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55648"/>
            <a:ext cx="3703320" cy="431596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19" y="1975104"/>
            <a:ext cx="356629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68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MÉDICALES (SUITE)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3099816" cy="4524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Insulin</a:t>
            </a:r>
            <a:r>
              <a:rPr lang="fr-FR" sz="20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600" smtClean="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</a:t>
            </a:r>
            <a:r>
              <a:rPr lang="fr-FR" sz="160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d’insuline dans le sang.</a:t>
            </a:r>
          </a:p>
          <a:p>
            <a:endParaRPr lang="fr-FR" sz="1600" b="1" smtClean="0">
              <a:solidFill>
                <a:srgbClr val="1430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r>
              <a:rPr lang="fr-FR" sz="16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FR" sz="160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Indice de masse corporelle (IMC).</a:t>
            </a:r>
          </a:p>
          <a:p>
            <a:endParaRPr lang="fr-FR" sz="1600" b="1" smtClean="0">
              <a:solidFill>
                <a:srgbClr val="1430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DiabetesPedigreeFunction</a:t>
            </a:r>
            <a:r>
              <a:rPr lang="fr-FR" sz="16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1600" smtClean="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Indicateur </a:t>
            </a:r>
            <a:r>
              <a:rPr lang="fr-FR" sz="160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prédisposition familiale au diabète</a:t>
            </a:r>
            <a:r>
              <a:rPr lang="fr-FR" sz="1600" smtClean="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fr-FR" sz="1600" smtClean="0">
              <a:solidFill>
                <a:srgbClr val="191E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sz="1600" b="1" smtClean="0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1600">
                <a:solidFill>
                  <a:srgbClr val="191E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Âge de l’individu en années.</a:t>
            </a:r>
          </a:p>
          <a:p>
            <a:endParaRPr lang="fr-FR" sz="1600" b="1">
              <a:solidFill>
                <a:srgbClr val="1430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>
              <a:solidFill>
                <a:srgbClr val="191E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b="1">
              <a:solidFill>
                <a:srgbClr val="1430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600" b="1">
              <a:solidFill>
                <a:srgbClr val="1430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sz="1600" b="1">
              <a:solidFill>
                <a:srgbClr val="14305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47888" y="1755648"/>
            <a:ext cx="3502152" cy="4315968"/>
          </a:xfrm>
          <a:prstGeom prst="roundRect">
            <a:avLst/>
          </a:prstGeom>
          <a:solidFill>
            <a:srgbClr val="E8F2FB"/>
          </a:solidFill>
          <a:ln w="12700">
            <a:solidFill>
              <a:srgbClr val="B9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22208" y="1975104"/>
            <a:ext cx="2560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68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: LA CIBLE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2423160"/>
            <a:ext cx="242316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C’est la réponse que le modèle doit apprendre à prédire.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22208" y="3246120"/>
            <a:ext cx="107899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22208" y="3383280"/>
            <a:ext cx="10789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208" y="3328416"/>
            <a:ext cx="17581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diabétique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5208" y="3730752"/>
            <a:ext cx="1325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500 personnes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22208" y="4343400"/>
            <a:ext cx="107899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2208" y="4480560"/>
            <a:ext cx="10789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30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4425696"/>
            <a:ext cx="1325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Diabétique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4828032"/>
            <a:ext cx="1325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268 personnes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 flipH="1">
            <a:off x="520922" y="131420"/>
            <a:ext cx="45719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 flipH="1">
            <a:off x="563728" y="138925"/>
            <a:ext cx="4571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67337" y="6473952"/>
            <a:ext cx="37998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 ML — Prédiction du diabète   |   4/14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7981" y="1210240"/>
            <a:ext cx="1051560" cy="411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375C"/>
                </a:solidFill>
                <a:latin typeface="Times New Roman"/>
              </a:rPr>
              <a:t>03 — LES DONNÉES : QUE CONTIENT LE DATASET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70448"/>
            <a:ext cx="5532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D6976"/>
                </a:solidFill>
                <a:latin typeface="Times New Roman"/>
              </a:rPr>
              <a:t>Capture — distributions des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353312"/>
            <a:ext cx="15087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39128" y="1463040"/>
            <a:ext cx="12893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70B2"/>
                </a:solidFill>
                <a:latin typeface="Times New Roman"/>
              </a:rPr>
              <a:t>768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83664"/>
            <a:ext cx="1234439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6"/>
                </a:solidFill>
                <a:latin typeface="Times New Roman"/>
              </a:rPr>
              <a:t>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53312"/>
            <a:ext cx="15087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8" y="1463040"/>
            <a:ext cx="12893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70B2"/>
                </a:solidFill>
                <a:latin typeface="Times New Roman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83664"/>
            <a:ext cx="1234439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6"/>
                </a:solidFill>
                <a:latin typeface="Times New Roman"/>
              </a:rPr>
              <a:t>variables médicales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353312"/>
            <a:ext cx="1737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30967" y="1463040"/>
            <a:ext cx="15179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70B2"/>
                </a:solidFill>
                <a:latin typeface="Times New Roman"/>
              </a:rPr>
              <a:t>500 / 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883664"/>
            <a:ext cx="1463039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6"/>
                </a:solidFill>
                <a:latin typeface="Times New Roman"/>
              </a:rPr>
              <a:t>Outcome 0 /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697479"/>
            <a:ext cx="5029200" cy="353683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2907792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D4E"/>
                </a:solidFill>
                <a:latin typeface="Times New Roman"/>
              </a:rPr>
              <a:t>CE QUE MONTRE LA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310128"/>
            <a:ext cx="4434840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Le modèle reçoit 8 caractéristiques : Glucose, BMI, Age, Insulin, BloodPressure, Pregnancies, SkinThickness et DiabetesPedigreeFunction.</a:t>
            </a:r>
          </a:p>
          <a:p>
            <a:pPr>
              <a:spcAft>
                <a:spcPts val="500"/>
              </a:spcAft>
              <a:defRPr sz="132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Outcome est la cible : 0 = absence de diabète ; 1 = présence de diabète.</a:t>
            </a:r>
          </a:p>
          <a:p>
            <a:pPr>
              <a:spcAft>
                <a:spcPts val="500"/>
              </a:spcAft>
              <a:defRPr sz="132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Le dataset est déséquilibré : 500 observations de classe 0 contre 268 de classe 1.</a:t>
            </a:r>
          </a:p>
          <a:p>
            <a:pPr>
              <a:spcAft>
                <a:spcPts val="500"/>
              </a:spcAft>
              <a:defRPr sz="132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Les distributions montrent des échelles très différentes : certaines variables sont concentrées, d'autres présentent des valeurs extrêmes.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latin typeface="Times New Roman"/>
              </a:rPr>
              <a:t>Projet ML — Prédiction du diabète   |   5/14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1353312"/>
            <a:ext cx="1051560" cy="411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à coins arrondis 25"/>
          <p:cNvSpPr/>
          <p:nvPr/>
        </p:nvSpPr>
        <p:spPr>
          <a:xfrm>
            <a:off x="-40691" y="872770"/>
            <a:ext cx="6496355" cy="5880056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375C"/>
                </a:solidFill>
                <a:latin typeface="Times New Roman"/>
              </a:rPr>
              <a:t>04 — PRÉPARER LES DONNÉES : NE PAS APPRENDRE SUR DES VALEURS PROBLÉMATIQUES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969264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latin typeface="Times New Roman"/>
              </a:rPr>
              <a:t>Les zéros de certaines variables médicales peuvent représenter des données non renseignées.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95544"/>
            <a:ext cx="5394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D6976"/>
                </a:solidFill>
                <a:latin typeface="Times New Roman"/>
              </a:rPr>
              <a:t>Capture — détection des valeurs extrêmes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98448"/>
            <a:ext cx="5212080" cy="4916822"/>
          </a:xfrm>
          <a:prstGeom prst="roundRect">
            <a:avLst/>
          </a:prstGeom>
          <a:solidFill>
            <a:srgbClr val="F7FAFD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554480"/>
            <a:ext cx="45720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</a:rPr>
              <a:t>LES PROBLÈMES IDENTIFIÉS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</a:rPr>
              <a:t>Zéros considérés comme valeurs manquantes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2271"/>
            <a:ext cx="45720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2000"/>
              <a:t>•  Glucose : 5 zéros</a:t>
            </a:r>
          </a:p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2000"/>
              <a:t>•  BloodPressure : 35</a:t>
            </a:r>
          </a:p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2000"/>
              <a:t>•  SkinThickness : 227</a:t>
            </a:r>
          </a:p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2000"/>
              <a:t>•  Insulin : 374</a:t>
            </a:r>
          </a:p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2000"/>
              <a:t>•  BMI :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099523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70B2"/>
                </a:solidFill>
                <a:latin typeface="Times New Roman"/>
              </a:rPr>
              <a:t>TRAITEMENT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160520"/>
            <a:ext cx="45720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fr-FR" sz="1700" b="1" smtClean="0">
              <a:solidFill>
                <a:srgbClr val="1E2630"/>
              </a:solidFill>
              <a:latin typeface="Times New Roman"/>
            </a:endParaRPr>
          </a:p>
          <a:p>
            <a:pPr algn="l"/>
            <a:r>
              <a:rPr sz="1700" b="1" smtClean="0">
                <a:solidFill>
                  <a:srgbClr val="1E2630"/>
                </a:solidFill>
                <a:latin typeface="Times New Roman"/>
              </a:rPr>
              <a:t>0 </a:t>
            </a:r>
            <a:r>
              <a:rPr sz="1700" b="1">
                <a:solidFill>
                  <a:srgbClr val="1E2630"/>
                </a:solidFill>
                <a:latin typeface="Times New Roman"/>
              </a:rPr>
              <a:t>→ NaN → médiane de la 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617720"/>
            <a:ext cx="45262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fr-FR" b="1" smtClean="0">
              <a:solidFill>
                <a:schemeClr val="accent6"/>
              </a:solidFill>
              <a:latin typeface="Times New Roman"/>
            </a:endParaRPr>
          </a:p>
          <a:p>
            <a:pPr algn="l"/>
            <a:r>
              <a:rPr b="1" smtClean="0">
                <a:solidFill>
                  <a:schemeClr val="accent6"/>
                </a:solidFill>
                <a:latin typeface="Times New Roman"/>
              </a:rPr>
              <a:t>Après </a:t>
            </a:r>
            <a:r>
              <a:rPr b="1">
                <a:solidFill>
                  <a:schemeClr val="accent6"/>
                </a:solidFill>
                <a:latin typeface="Times New Roman"/>
              </a:rPr>
              <a:t>imputation : 0 valeur manquante. Puis séparation 80 % entraînement / 20 % test, soit 614 / 154 observations.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6/14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1353312"/>
            <a:ext cx="1051560" cy="411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à coins arrondis 20"/>
          <p:cNvSpPr/>
          <p:nvPr/>
        </p:nvSpPr>
        <p:spPr>
          <a:xfrm>
            <a:off x="-30175" y="1431036"/>
            <a:ext cx="6245445" cy="5221224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64273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665" y="384313"/>
            <a:ext cx="10972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smtClean="0">
                <a:solidFill>
                  <a:srgbClr val="10375C"/>
                </a:solidFill>
                <a:latin typeface="Times New Roman"/>
              </a:rPr>
              <a:t>0</a:t>
            </a:r>
            <a:r>
              <a:rPr lang="fr-FR" sz="2200" b="1">
                <a:solidFill>
                  <a:srgbClr val="10375C"/>
                </a:solidFill>
                <a:latin typeface="Times New Roman"/>
              </a:rPr>
              <a:t>5</a:t>
            </a:r>
            <a:r>
              <a:rPr sz="2200"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sz="2200" b="1">
                <a:solidFill>
                  <a:srgbClr val="10375C"/>
                </a:solidFill>
                <a:latin typeface="Times New Roman"/>
              </a:rPr>
              <a:t>— COMMENT PASSER DES DONNÉES À LA CLASSE 0 OU 1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097" y="905521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fr-FR" sz="2000" smtClean="0">
                <a:latin typeface="Times New Roman"/>
              </a:rPr>
              <a:t>        Cette structure ullustre l’enprassige du modele, c’est le</a:t>
            </a:r>
            <a:r>
              <a:rPr sz="2000" b="0" smtClean="0">
                <a:latin typeface="Times New Roman"/>
              </a:rPr>
              <a:t> </a:t>
            </a:r>
            <a:r>
              <a:rPr sz="2000" b="0">
                <a:latin typeface="Times New Roman"/>
              </a:rPr>
              <a:t>cœur de la prédiction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329" y="1966225"/>
            <a:ext cx="3200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endParaRPr sz="2200" b="1">
              <a:solidFill>
                <a:srgbClr val="102D4E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10049" y="1966225"/>
            <a:ext cx="3200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endParaRPr sz="2200" b="1">
              <a:solidFill>
                <a:srgbClr val="102D4E"/>
              </a:solidFill>
              <a:latin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4665" y="6574801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</a:t>
            </a:r>
            <a:r>
              <a:rPr lang="fr-FR" sz="1600" smtClean="0">
                <a:solidFill>
                  <a:srgbClr val="002060"/>
                </a:solidFill>
                <a:latin typeface="Times New Roman"/>
              </a:rPr>
              <a:t>7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/14</a:t>
            </a:r>
            <a:endParaRPr sz="160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05" y="64273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05" y="64273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345" y="375169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8925" y="375169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2097" y="1305631"/>
            <a:ext cx="10441031" cy="526917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11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9270" y="149870"/>
            <a:ext cx="10972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smtClean="0">
                <a:solidFill>
                  <a:srgbClr val="10375C"/>
                </a:solidFill>
                <a:latin typeface="Times New Roman"/>
              </a:rPr>
              <a:t>0</a:t>
            </a:r>
            <a:r>
              <a:rPr lang="fr-FR" sz="2200" b="1" smtClean="0">
                <a:solidFill>
                  <a:srgbClr val="10375C"/>
                </a:solidFill>
                <a:latin typeface="Times New Roman"/>
              </a:rPr>
              <a:t>6</a:t>
            </a:r>
            <a:r>
              <a:rPr sz="2200"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sz="2200" b="1">
                <a:solidFill>
                  <a:srgbClr val="10375C"/>
                </a:solidFill>
                <a:latin typeface="Times New Roman"/>
              </a:rPr>
              <a:t>— QUE FAIT CHAQUE MODÈLE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787" y="523836"/>
            <a:ext cx="1155207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/>
              <a:t>Pour prédire le diabète, nous avons utilisé trois modèles de Machine Learning : la régression logistique, l’arbre de décision et la forêt aléatoire. Nous allons comparer leurs performances pour déterminer lequel donne les meilleurs résultats.</a:t>
            </a:r>
            <a:endParaRPr b="0">
              <a:solidFill>
                <a:srgbClr val="5D6976"/>
              </a:solidFill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92765" y="1461028"/>
                <a:ext cx="4159195" cy="3474720"/>
              </a:xfrm>
              <a:prstGeom prst="roundRect">
                <a:avLst/>
              </a:prstGeom>
              <a:solidFill>
                <a:srgbClr val="FFFFFF"/>
              </a:solidFill>
              <a:ln w="10160">
                <a:solidFill>
                  <a:srgbClr val="CDD8E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2+⋯+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𝑛𝑋𝑛</m:t>
                      </m:r>
                    </m:oMath>
                  </m:oMathPara>
                </a14:m>
                <a:endParaRPr lang="fr-FR">
                  <a:solidFill>
                    <a:schemeClr val="tx1"/>
                  </a:solidFill>
                </a:endParaRPr>
              </a:p>
              <a:p>
                <a:endParaRPr lang="fr-FR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5" y="1461028"/>
                <a:ext cx="4159195" cy="34747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0160">
                <a:solidFill>
                  <a:srgbClr val="CDD8E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22960" y="169164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370B2"/>
                </a:solidFill>
                <a:latin typeface="Times New Roman"/>
              </a:rPr>
              <a:t>RÉGRESSION LOGISTIQUE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72586"/>
            <a:ext cx="288036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>
                <a:solidFill>
                  <a:srgbClr val="1E2630"/>
                </a:solidFill>
                <a:latin typeface="Times New Roman"/>
              </a:rPr>
              <a:t>Calcule une probabilité à partir d'une combinaison des 8 variables</a:t>
            </a:r>
            <a:r>
              <a:rPr b="0" smtClean="0">
                <a:solidFill>
                  <a:srgbClr val="1E2630"/>
                </a:solidFill>
                <a:latin typeface="Times New Roman"/>
              </a:rPr>
              <a:t>.</a:t>
            </a:r>
            <a:endParaRPr lang="fr-FR" b="0" smtClean="0">
              <a:solidFill>
                <a:srgbClr val="1E2630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5763" y="3387852"/>
            <a:ext cx="3115361" cy="1041868"/>
          </a:xfrm>
          <a:prstGeom prst="roundRect">
            <a:avLst/>
          </a:prstGeom>
          <a:solidFill>
            <a:srgbClr val="EEF7FF"/>
          </a:solidFill>
          <a:ln w="10160">
            <a:solidFill>
              <a:srgbClr val="23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0040" y="3657600"/>
                <a:ext cx="3090672" cy="61734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1+ⅇ−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sz="1500" b="1">
                  <a:solidFill>
                    <a:srgbClr val="102D4E"/>
                  </a:solidFill>
                  <a:latin typeface="Times New Roman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3657600"/>
                <a:ext cx="3090672" cy="6173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4389120" y="141732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A842D"/>
                </a:solidFill>
                <a:latin typeface="Times New Roman"/>
              </a:rPr>
              <a:t>ARBRE DE DÉCISION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331720"/>
            <a:ext cx="2941625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fr-FR" smtClean="0"/>
              <a:t>Prend </a:t>
            </a:r>
            <a:r>
              <a:rPr lang="fr-FR"/>
              <a:t>des décisions successives à partir des variables </a:t>
            </a:r>
            <a:r>
              <a:rPr lang="fr-FR" smtClean="0"/>
              <a:t>disponibles en fixant un </a:t>
            </a:r>
            <a:r>
              <a:rPr lang="fr-FR" b="1" smtClean="0">
                <a:solidFill>
                  <a:srgbClr val="00B050"/>
                </a:solidFill>
              </a:rPr>
              <a:t>seuil</a:t>
            </a:r>
            <a:r>
              <a:rPr lang="fr-FR" smtClean="0"/>
              <a:t>.</a:t>
            </a:r>
            <a:endParaRPr lang="fr-FR"/>
          </a:p>
          <a:p>
            <a:pPr algn="ctr"/>
            <a:endParaRPr b="0">
              <a:solidFill>
                <a:srgbClr val="1E2630"/>
              </a:solidFill>
              <a:latin typeface="Times New Roma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83984" y="3553281"/>
            <a:ext cx="2423160" cy="1005840"/>
          </a:xfrm>
          <a:prstGeom prst="roundRect">
            <a:avLst/>
          </a:prstGeom>
          <a:solidFill>
            <a:srgbClr val="EEF7FF"/>
          </a:solidFill>
          <a:ln w="10160">
            <a:solidFill>
              <a:srgbClr val="DA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2317" y="378362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02D4E"/>
                </a:solidFill>
                <a:latin typeface="Times New Roman"/>
              </a:rPr>
              <a:t>SI … ALORS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41732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825B"/>
                </a:solidFill>
                <a:latin typeface="Times New Roman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31720"/>
            <a:ext cx="288036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E26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 plusieurs </a:t>
            </a:r>
            <a:r>
              <a:rPr sz="1600" b="0" smtClean="0">
                <a:solidFill>
                  <a:srgbClr val="1E26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arbres</a:t>
            </a:r>
            <a:r>
              <a:rPr lang="fr-FR" sz="1600" b="0" smtClean="0">
                <a:solidFill>
                  <a:srgbClr val="1E26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>
                <a:latin typeface="Times New Roman" panose="02020603050405020304" pitchFamily="18" charset="0"/>
                <a:cs typeface="Times New Roman" panose="02020603050405020304" pitchFamily="18" charset="0"/>
              </a:rPr>
              <a:t>afin d'obtenir une prédiction finale.</a:t>
            </a:r>
          </a:p>
          <a:p>
            <a:pPr algn="ctr"/>
            <a:r>
              <a:rPr lang="fr-FR"/>
              <a:t>Dans notre projet, nous avons utilisé </a:t>
            </a:r>
            <a:r>
              <a:rPr lang="fr-FR" b="1">
                <a:solidFill>
                  <a:srgbClr val="00B050"/>
                </a:solidFill>
              </a:rPr>
              <a:t>100 arbres</a:t>
            </a:r>
            <a:r>
              <a:rPr lang="fr-FR">
                <a:solidFill>
                  <a:srgbClr val="00B050"/>
                </a:solidFill>
              </a:rPr>
              <a:t> </a:t>
            </a:r>
            <a:r>
              <a:rPr lang="fr-FR"/>
              <a:t>avec random_state=42.</a:t>
            </a:r>
          </a:p>
          <a:p>
            <a:pPr algn="ctr"/>
            <a:endParaRPr sz="1400" b="0">
              <a:solidFill>
                <a:srgbClr val="1E26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28173" y="3908786"/>
            <a:ext cx="2423160" cy="822960"/>
          </a:xfrm>
          <a:prstGeom prst="roundRect">
            <a:avLst/>
          </a:prstGeom>
          <a:solidFill>
            <a:srgbClr val="EEF7FF"/>
          </a:solidFill>
          <a:ln w="10160">
            <a:solidFill>
              <a:srgbClr val="25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08403" y="4163303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02D4E"/>
                </a:solidFill>
                <a:latin typeface="Times New Roman"/>
              </a:rPr>
              <a:t>Plusieurs arbres → </a:t>
            </a:r>
            <a:r>
              <a:rPr sz="1500" b="1" smtClean="0">
                <a:solidFill>
                  <a:srgbClr val="102D4E"/>
                </a:solidFill>
                <a:latin typeface="Times New Roman"/>
              </a:rPr>
              <a:t>vote</a:t>
            </a:r>
            <a:endParaRPr sz="1500" b="1">
              <a:solidFill>
                <a:srgbClr val="102D4E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58987" y="6039945"/>
            <a:ext cx="995052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spcAft>
                <a:spcPts val="400"/>
              </a:spcAft>
              <a:defRPr sz="1400">
                <a:solidFill>
                  <a:srgbClr val="191E23"/>
                </a:solidFill>
                <a:latin typeface="Times New Roman"/>
              </a:defRPr>
            </a:pPr>
            <a:r>
              <a:rPr lang="fr-FR" sz="2400" b="1" smtClean="0">
                <a:solidFill>
                  <a:srgbClr val="BE701E"/>
                </a:solidFill>
                <a:latin typeface="Times New Roman"/>
              </a:rPr>
              <a:t>Question </a:t>
            </a:r>
            <a:r>
              <a:rPr lang="fr-FR" sz="2400" b="1">
                <a:solidFill>
                  <a:srgbClr val="BE701E"/>
                </a:solidFill>
                <a:latin typeface="Times New Roman"/>
              </a:rPr>
              <a:t>: </a:t>
            </a:r>
            <a:r>
              <a:rPr lang="fr-FR" sz="2000" b="1">
                <a:solidFill>
                  <a:srgbClr val="143058"/>
                </a:solidFill>
                <a:latin typeface="Times New Roman"/>
              </a:rPr>
              <a:t>Quel modèle permet la meilleure classification sur les 154 individus de test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</a:t>
            </a:r>
            <a:r>
              <a:rPr lang="fr-FR" sz="1600" smtClean="0">
                <a:solidFill>
                  <a:srgbClr val="002060"/>
                </a:solidFill>
                <a:latin typeface="Times New Roman"/>
              </a:rPr>
              <a:t>8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/14</a:t>
            </a:r>
            <a:endParaRPr sz="160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1353312"/>
            <a:ext cx="677849" cy="458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ptagone 19"/>
          <p:cNvSpPr/>
          <p:nvPr/>
        </p:nvSpPr>
        <p:spPr>
          <a:xfrm>
            <a:off x="933284" y="4429720"/>
            <a:ext cx="2167725" cy="1618488"/>
          </a:xfrm>
          <a:prstGeom prst="heptagon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Losange 27"/>
          <p:cNvSpPr/>
          <p:nvPr/>
        </p:nvSpPr>
        <p:spPr>
          <a:xfrm>
            <a:off x="5083984" y="4565987"/>
            <a:ext cx="2282893" cy="1547613"/>
          </a:xfrm>
          <a:prstGeom prst="diamond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Heptagone 28"/>
          <p:cNvSpPr/>
          <p:nvPr/>
        </p:nvSpPr>
        <p:spPr>
          <a:xfrm>
            <a:off x="8917549" y="4740664"/>
            <a:ext cx="2167725" cy="1345024"/>
          </a:xfrm>
          <a:prstGeom prst="heptagon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54864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9184" y="347472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7764" y="347472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478274"/>
            <a:ext cx="10789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 b="1" smtClean="0">
                <a:solidFill>
                  <a:srgbClr val="10375C"/>
                </a:solidFill>
                <a:latin typeface="Times New Roman"/>
              </a:rPr>
              <a:t>07</a:t>
            </a:r>
            <a:r>
              <a:rPr lang="fr-FR" b="1">
                <a:solidFill>
                  <a:srgbClr val="10375C"/>
                </a:solidFill>
                <a:latin typeface="Times New Roman"/>
              </a:rPr>
              <a:t> —</a:t>
            </a:r>
            <a:r>
              <a:rPr lang="fr-FR"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b="1" smtClean="0">
                <a:solidFill>
                  <a:srgbClr val="10375C"/>
                </a:solidFill>
                <a:latin typeface="Times New Roman"/>
              </a:rPr>
              <a:t>COMMENT </a:t>
            </a:r>
            <a:r>
              <a:rPr lang="fr-FR" b="1" smtClean="0">
                <a:solidFill>
                  <a:srgbClr val="10375C"/>
                </a:solidFill>
                <a:latin typeface="Times New Roman"/>
              </a:rPr>
              <a:t>CAMPARE</a:t>
            </a:r>
            <a:r>
              <a:rPr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b="1">
                <a:solidFill>
                  <a:srgbClr val="10375C"/>
                </a:solidFill>
                <a:latin typeface="Times New Roman"/>
              </a:rPr>
              <a:t>LES MODÈLES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35474"/>
            <a:ext cx="10789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>
                <a:solidFill>
                  <a:srgbClr val="5C6773"/>
                </a:solidFill>
                <a:latin typeface="Times New Roman"/>
              </a:rPr>
              <a:t>Quatre mesures permettent de comparer leurs prédictions.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5285232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81328"/>
            <a:ext cx="91440" cy="1691640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570982"/>
            <a:ext cx="47548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0375C"/>
                </a:solidFill>
                <a:latin typeface="Times New Roman"/>
              </a:rPr>
              <a:t>1. ACCURACY — Exactitude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53106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/>
              <a:t>« Combien de prédictions sont correctes au total ? »</a:t>
            </a:r>
            <a:endParaRPr b="0">
              <a:solidFill>
                <a:srgbClr val="191F26"/>
              </a:solidFill>
              <a:latin typeface="Times New Roma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23544" y="2398778"/>
            <a:ext cx="4800600" cy="757165"/>
          </a:xfrm>
          <a:prstGeom prst="roundRect">
            <a:avLst/>
          </a:prstGeom>
          <a:solidFill>
            <a:srgbClr val="E2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50976" y="2376252"/>
                <a:ext cx="4590288" cy="6790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𝑇𝑁</m:t>
                              </m:r>
                            </m:e>
                          </m:d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b="1">
                  <a:solidFill>
                    <a:srgbClr val="10375C"/>
                  </a:solidFill>
                  <a:latin typeface="Times New Roman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2376252"/>
                <a:ext cx="4590288" cy="6790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/>
          <p:cNvSpPr/>
          <p:nvPr/>
        </p:nvSpPr>
        <p:spPr>
          <a:xfrm>
            <a:off x="6236208" y="1481328"/>
            <a:ext cx="5285232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1481328"/>
            <a:ext cx="91440" cy="1691640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1570982"/>
            <a:ext cx="47548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0375C"/>
                </a:solidFill>
                <a:latin typeface="Times New Roman"/>
              </a:rPr>
              <a:t>2.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1853106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/>
              <a:t>Elle mesure, parmi les personnes prédites diabétiques, combien le sont réellement.</a:t>
            </a:r>
            <a:endParaRPr b="0">
              <a:solidFill>
                <a:srgbClr val="191F26"/>
              </a:solidFill>
              <a:latin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64808" y="2505456"/>
            <a:ext cx="4782312" cy="658368"/>
          </a:xfrm>
          <a:prstGeom prst="roundRect">
            <a:avLst/>
          </a:prstGeom>
          <a:solidFill>
            <a:srgbClr val="E4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47104" y="2480255"/>
                <a:ext cx="4590288" cy="89248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fr-FR"/>
              </a:p>
              <a:p>
                <a:pPr algn="ctr">
                  <a:spcAft>
                    <a:spcPts val="0"/>
                  </a:spcAft>
                </a:pPr>
                <a:endParaRPr b="1">
                  <a:solidFill>
                    <a:srgbClr val="10375C"/>
                  </a:solidFill>
                  <a:latin typeface="Times New Roman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104" y="2480255"/>
                <a:ext cx="4590288" cy="892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/>
          <p:cNvSpPr/>
          <p:nvPr/>
        </p:nvSpPr>
        <p:spPr>
          <a:xfrm>
            <a:off x="640080" y="3456432"/>
            <a:ext cx="5285232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456432"/>
            <a:ext cx="91440" cy="1691640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546085"/>
            <a:ext cx="47548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0375C"/>
                </a:solidFill>
                <a:latin typeface="Times New Roman"/>
              </a:rPr>
              <a:t>3. RECALL — Rappel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28210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/>
              <a:t>Elle mesure la capacité du modèle à détecter les personnes réellement diabétiques.</a:t>
            </a:r>
            <a:endParaRPr b="0">
              <a:solidFill>
                <a:srgbClr val="191F26"/>
              </a:solidFill>
              <a:latin typeface="Times New Roman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50392" y="4480560"/>
            <a:ext cx="4800600" cy="6675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078992" y="4448921"/>
                <a:ext cx="4590288" cy="6154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b="1">
                  <a:solidFill>
                    <a:srgbClr val="10375C"/>
                  </a:solidFill>
                  <a:latin typeface="Times New Roman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92" y="4448921"/>
                <a:ext cx="4590288" cy="6154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/>
          <p:cNvSpPr/>
          <p:nvPr/>
        </p:nvSpPr>
        <p:spPr>
          <a:xfrm>
            <a:off x="6236208" y="3456432"/>
            <a:ext cx="5285232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36208" y="3456432"/>
            <a:ext cx="91440" cy="1691640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8" y="3546085"/>
            <a:ext cx="47548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0375C"/>
                </a:solidFill>
                <a:latin typeface="Times New Roman"/>
              </a:rPr>
              <a:t>4. F1-SCORE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828210"/>
            <a:ext cx="475488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/>
              <a:t>Il combine la Precision et le Recall pour évaluer leur équilibre.</a:t>
            </a:r>
            <a:endParaRPr b="0">
              <a:solidFill>
                <a:srgbClr val="191F26"/>
              </a:solidFill>
              <a:latin typeface="Times New Roman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46520" y="4439300"/>
            <a:ext cx="4800600" cy="75159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mtClean="0"/>
          </a:p>
          <a:p>
            <a:pPr algn="ctr"/>
            <a:endParaRPr lang="fr-FR"/>
          </a:p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547104" y="4396871"/>
                <a:ext cx="4590288" cy="94609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1=2×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/>
              </a:p>
              <a:p>
                <a:pPr algn="ctr">
                  <a:spcAft>
                    <a:spcPts val="0"/>
                  </a:spcAft>
                </a:pPr>
                <a:endParaRPr b="1">
                  <a:solidFill>
                    <a:srgbClr val="10375C"/>
                  </a:solidFill>
                  <a:latin typeface="Times New Roman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104" y="4396871"/>
                <a:ext cx="4590288" cy="9460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32"/>
          <p:cNvSpPr/>
          <p:nvPr/>
        </p:nvSpPr>
        <p:spPr>
          <a:xfrm>
            <a:off x="640080" y="5440680"/>
            <a:ext cx="10881360" cy="621792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534906"/>
            <a:ext cx="105156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chemeClr val="accent6"/>
                </a:solidFill>
                <a:latin typeface="Times New Roman"/>
              </a:rPr>
              <a:t>VP = vrais positifs  •  VN = vrais négatifs  •  FP = faux positifs  •  FN = faux négatifs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6423547"/>
            <a:ext cx="4526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002060"/>
                </a:solidFill>
                <a:latin typeface="Times New Roman"/>
              </a:rPr>
              <a:t>Projet ML — Prédiction du diabète   </a:t>
            </a:r>
            <a:r>
              <a:rPr sz="1600" b="0" smtClean="0">
                <a:solidFill>
                  <a:srgbClr val="002060"/>
                </a:solidFill>
                <a:latin typeface="Times New Roman"/>
              </a:rPr>
              <a:t>|</a:t>
            </a:r>
            <a:r>
              <a:rPr lang="fr-FR" sz="1600" b="0" smtClean="0">
                <a:solidFill>
                  <a:srgbClr val="002060"/>
                </a:solidFill>
                <a:latin typeface="Times New Roman"/>
              </a:rPr>
              <a:t> 09/14</a:t>
            </a:r>
            <a:endParaRPr sz="1600" b="0">
              <a:solidFill>
                <a:srgbClr val="00206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1857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645422" y="161312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375C"/>
                </a:solidFill>
                <a:latin typeface="Times New Roman"/>
              </a:rPr>
              <a:t>08 — RÉSULTATS : QUEL MODÈLE EST LE MEILLEUR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564" y="535025"/>
            <a:ext cx="1150421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Afin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de déterminer le modèle le plus performant pour prédire le </a:t>
            </a:r>
            <a:r>
              <a:rPr lang="fr-F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diabète., nous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avons comparé trois modèles : la régression logistique, l’arbre de décision et la forêt aléatoire, en utilisant quatre mesures : l’Accuracy, la Precision, le Recall et le </a:t>
            </a:r>
            <a:r>
              <a:rPr lang="fr-F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b="0">
              <a:solidFill>
                <a:srgbClr val="5D69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13271" y="1325879"/>
            <a:ext cx="5303520" cy="4605457"/>
          </a:xfrm>
          <a:prstGeom prst="roundRect">
            <a:avLst/>
          </a:prstGeom>
          <a:solidFill>
            <a:srgbClr val="F7FAFD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6675120" y="1572768"/>
            <a:ext cx="4572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2D4E"/>
                </a:solidFill>
                <a:latin typeface="Times New Roman"/>
              </a:rPr>
              <a:t>TABLEAU DES RÉSULTATS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011680"/>
            <a:ext cx="1554480" cy="438912"/>
          </a:xfrm>
          <a:prstGeom prst="rect">
            <a:avLst/>
          </a:prstGeom>
          <a:solidFill>
            <a:srgbClr val="102D4E"/>
          </a:solidFill>
          <a:ln w="10160">
            <a:solidFill>
              <a:srgbClr val="10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6629400" y="2093976"/>
            <a:ext cx="15544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011680"/>
            <a:ext cx="914400" cy="438912"/>
          </a:xfrm>
          <a:prstGeom prst="rect">
            <a:avLst/>
          </a:prstGeom>
          <a:solidFill>
            <a:srgbClr val="102D4E"/>
          </a:solidFill>
          <a:ln w="10160">
            <a:solidFill>
              <a:srgbClr val="10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8183879" y="2093976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011680"/>
            <a:ext cx="914400" cy="438912"/>
          </a:xfrm>
          <a:prstGeom prst="rect">
            <a:avLst/>
          </a:prstGeom>
          <a:solidFill>
            <a:srgbClr val="102D4E"/>
          </a:solidFill>
          <a:ln w="10160">
            <a:solidFill>
              <a:srgbClr val="10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9098280" y="2093976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2011680"/>
            <a:ext cx="868680" cy="438912"/>
          </a:xfrm>
          <a:prstGeom prst="rect">
            <a:avLst/>
          </a:prstGeom>
          <a:solidFill>
            <a:srgbClr val="102D4E"/>
          </a:solidFill>
          <a:ln w="10160">
            <a:solidFill>
              <a:srgbClr val="10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10012680" y="2093976"/>
            <a:ext cx="868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81360" y="2011680"/>
            <a:ext cx="777240" cy="438912"/>
          </a:xfrm>
          <a:prstGeom prst="rect">
            <a:avLst/>
          </a:prstGeom>
          <a:solidFill>
            <a:srgbClr val="102D4E"/>
          </a:solidFill>
          <a:ln w="10160">
            <a:solidFill>
              <a:srgbClr val="10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10881360" y="2093976"/>
            <a:ext cx="777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2468880"/>
            <a:ext cx="15544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6656832" y="2596896"/>
            <a:ext cx="14996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Logistique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468880"/>
            <a:ext cx="914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8211311" y="2596896"/>
            <a:ext cx="8595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70,13 %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468880"/>
            <a:ext cx="914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9125711" y="2596896"/>
            <a:ext cx="8595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58,70 %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2468880"/>
            <a:ext cx="8686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10040111" y="2596896"/>
            <a:ext cx="81381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50,00 %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81360" y="2468880"/>
            <a:ext cx="7772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TextBox 28"/>
          <p:cNvSpPr txBox="1"/>
          <p:nvPr/>
        </p:nvSpPr>
        <p:spPr>
          <a:xfrm>
            <a:off x="10908792" y="2596896"/>
            <a:ext cx="7223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54,00 %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3044952"/>
            <a:ext cx="15544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6656832" y="3172968"/>
            <a:ext cx="14996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Arbre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3044952"/>
            <a:ext cx="914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TextBox 32"/>
          <p:cNvSpPr txBox="1"/>
          <p:nvPr/>
        </p:nvSpPr>
        <p:spPr>
          <a:xfrm>
            <a:off x="8211311" y="3172968"/>
            <a:ext cx="8595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68,18 %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044952"/>
            <a:ext cx="914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TextBox 34"/>
          <p:cNvSpPr txBox="1"/>
          <p:nvPr/>
        </p:nvSpPr>
        <p:spPr>
          <a:xfrm>
            <a:off x="9125711" y="3172968"/>
            <a:ext cx="8595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55,32 %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3044952"/>
            <a:ext cx="8686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7" name="TextBox 36"/>
          <p:cNvSpPr txBox="1"/>
          <p:nvPr/>
        </p:nvSpPr>
        <p:spPr>
          <a:xfrm>
            <a:off x="10040111" y="3172968"/>
            <a:ext cx="81381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48,15 %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60" y="3044952"/>
            <a:ext cx="7772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9" name="TextBox 38"/>
          <p:cNvSpPr txBox="1"/>
          <p:nvPr/>
        </p:nvSpPr>
        <p:spPr>
          <a:xfrm>
            <a:off x="10908792" y="3172968"/>
            <a:ext cx="7223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E2630"/>
                </a:solidFill>
                <a:latin typeface="Times New Roman"/>
              </a:rPr>
              <a:t>51,49 %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3621024"/>
            <a:ext cx="1554480" cy="566928"/>
          </a:xfrm>
          <a:prstGeom prst="rect">
            <a:avLst/>
          </a:prstGeom>
          <a:solidFill>
            <a:srgbClr val="EEF7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1" name="TextBox 40"/>
          <p:cNvSpPr txBox="1"/>
          <p:nvPr/>
        </p:nvSpPr>
        <p:spPr>
          <a:xfrm>
            <a:off x="6656832" y="3749039"/>
            <a:ext cx="14996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825B"/>
                </a:solidFill>
                <a:latin typeface="Times New Roman"/>
              </a:rPr>
              <a:t>Random Forest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79" y="3621024"/>
            <a:ext cx="914400" cy="566928"/>
          </a:xfrm>
          <a:prstGeom prst="rect">
            <a:avLst/>
          </a:prstGeom>
          <a:solidFill>
            <a:srgbClr val="EEF7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3" name="TextBox 42"/>
          <p:cNvSpPr txBox="1"/>
          <p:nvPr/>
        </p:nvSpPr>
        <p:spPr>
          <a:xfrm>
            <a:off x="8211311" y="3749039"/>
            <a:ext cx="8595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825B"/>
                </a:solidFill>
                <a:latin typeface="Times New Roman"/>
              </a:rPr>
              <a:t>77,92 %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3621024"/>
            <a:ext cx="914400" cy="566928"/>
          </a:xfrm>
          <a:prstGeom prst="rect">
            <a:avLst/>
          </a:prstGeom>
          <a:solidFill>
            <a:srgbClr val="EEF7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5" name="TextBox 44"/>
          <p:cNvSpPr txBox="1"/>
          <p:nvPr/>
        </p:nvSpPr>
        <p:spPr>
          <a:xfrm>
            <a:off x="9125711" y="3749039"/>
            <a:ext cx="8595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825B"/>
                </a:solidFill>
                <a:latin typeface="Times New Roman"/>
              </a:rPr>
              <a:t>72,73 %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3621024"/>
            <a:ext cx="868680" cy="566928"/>
          </a:xfrm>
          <a:prstGeom prst="rect">
            <a:avLst/>
          </a:prstGeom>
          <a:solidFill>
            <a:srgbClr val="EEF7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7" name="TextBox 46"/>
          <p:cNvSpPr txBox="1"/>
          <p:nvPr/>
        </p:nvSpPr>
        <p:spPr>
          <a:xfrm>
            <a:off x="10040111" y="3749039"/>
            <a:ext cx="81381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825B"/>
                </a:solidFill>
                <a:latin typeface="Times New Roman"/>
              </a:rPr>
              <a:t>59,26 %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81360" y="3621024"/>
            <a:ext cx="777240" cy="566928"/>
          </a:xfrm>
          <a:prstGeom prst="rect">
            <a:avLst/>
          </a:prstGeom>
          <a:solidFill>
            <a:srgbClr val="EEF7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9" name="TextBox 48"/>
          <p:cNvSpPr txBox="1"/>
          <p:nvPr/>
        </p:nvSpPr>
        <p:spPr>
          <a:xfrm>
            <a:off x="10908792" y="3749039"/>
            <a:ext cx="7223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825B"/>
                </a:solidFill>
                <a:latin typeface="Times New Roman"/>
              </a:rPr>
              <a:t>65,31 %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34340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70B2"/>
                </a:solidFill>
                <a:latin typeface="Times New Roman"/>
              </a:rPr>
              <a:t>ANALYSE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663440"/>
            <a:ext cx="49834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630"/>
                </a:solidFill>
                <a:latin typeface="Times New Roman"/>
              </a:rPr>
              <a:t>Random Forest domine les 4 métriques : 77,92 % d'Accuracy, 72,73 % de Precision, 59,26 % de Recall et 65,31 % de F1-score. C'est donc le meilleur modèle de notre test.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</a:t>
            </a:r>
            <a:r>
              <a:rPr lang="fr-FR" sz="1600" smtClean="0">
                <a:solidFill>
                  <a:srgbClr val="002060"/>
                </a:solidFill>
                <a:latin typeface="Times New Roman"/>
              </a:rPr>
              <a:t>10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/14</a:t>
            </a:r>
            <a:endParaRPr sz="160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5" name="Rectangle 54"/>
          <p:cNvSpPr/>
          <p:nvPr/>
        </p:nvSpPr>
        <p:spPr>
          <a:xfrm>
            <a:off x="581274" y="162689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6" name="Rectangle 55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7" name="Rectangle 56"/>
          <p:cNvSpPr/>
          <p:nvPr/>
        </p:nvSpPr>
        <p:spPr>
          <a:xfrm>
            <a:off x="960120" y="1381344"/>
            <a:ext cx="1051560" cy="63671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8" name="Rectangle à coins arrondis 57"/>
          <p:cNvSpPr/>
          <p:nvPr/>
        </p:nvSpPr>
        <p:spPr>
          <a:xfrm>
            <a:off x="159026" y="1456678"/>
            <a:ext cx="6196054" cy="5248921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smtClean="0">
                <a:solidFill>
                  <a:srgbClr val="10375C"/>
                </a:solidFill>
                <a:latin typeface="Times New Roman"/>
              </a:rPr>
              <a:t>0</a:t>
            </a:r>
            <a:r>
              <a:rPr lang="fr-FR" sz="2200" b="1" smtClean="0">
                <a:solidFill>
                  <a:srgbClr val="10375C"/>
                </a:solidFill>
                <a:latin typeface="Times New Roman"/>
              </a:rPr>
              <a:t>9</a:t>
            </a:r>
            <a:r>
              <a:rPr sz="2200"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sz="2200" b="1">
                <a:solidFill>
                  <a:srgbClr val="10375C"/>
                </a:solidFill>
                <a:latin typeface="Times New Roman"/>
              </a:rPr>
              <a:t>— QUELLES VARIABLES PÈSENT LE PLUS DANS LA DÉCISION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latin typeface="Times New Roman"/>
              </a:rPr>
              <a:t>Importance des variables obtenue avec la Random Forest — ce sont des contributions au modèle, pas des causes.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98448"/>
            <a:ext cx="5303520" cy="4824460"/>
          </a:xfrm>
          <a:prstGeom prst="roundRect">
            <a:avLst/>
          </a:prstGeom>
          <a:solidFill>
            <a:srgbClr val="EEF7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D4E"/>
                </a:solidFill>
                <a:latin typeface="Times New Roman"/>
              </a:rPr>
              <a:t>LES VARIABLES LES PLUS IMPORTANTES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630"/>
                </a:solidFill>
                <a:latin typeface="Times New Roman"/>
              </a:rPr>
              <a:t>Glucose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1965960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370B2"/>
                </a:solidFill>
                <a:latin typeface="Times New Roman"/>
              </a:rPr>
              <a:t>27,41 %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96312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630"/>
                </a:solidFill>
                <a:latin typeface="Times New Roman"/>
              </a:rPr>
              <a:t>BMI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2496312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370B2"/>
                </a:solidFill>
                <a:latin typeface="Times New Roman"/>
              </a:rPr>
              <a:t>16,19 %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26664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630"/>
                </a:solidFill>
                <a:latin typeface="Times New Roman"/>
              </a:rPr>
              <a:t>DiabetesPedigreeFunction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78440" y="3026664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370B2"/>
                </a:solidFill>
                <a:latin typeface="Times New Roman"/>
              </a:rPr>
              <a:t>12,50 %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57016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630"/>
                </a:solidFill>
                <a:latin typeface="Times New Roman"/>
              </a:rPr>
              <a:t>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3557016"/>
            <a:ext cx="822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370B2"/>
                </a:solidFill>
                <a:latin typeface="Times New Roman"/>
              </a:rPr>
              <a:t>11,30 %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7649" y="4056924"/>
            <a:ext cx="4114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smtClean="0">
                <a:solidFill>
                  <a:srgbClr val="2370B2"/>
                </a:solidFill>
                <a:latin typeface="Times New Roman"/>
              </a:rPr>
              <a:t>INTERPRÉTER </a:t>
            </a:r>
            <a:r>
              <a:rPr sz="1400" b="1">
                <a:solidFill>
                  <a:srgbClr val="2370B2"/>
                </a:solidFill>
                <a:latin typeface="Times New Roman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673" y="4337938"/>
            <a:ext cx="45262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630"/>
                </a:solidFill>
                <a:latin typeface="Times New Roman"/>
              </a:rPr>
              <a:t>Le glucose est la variable la plus importante dans ce modèle (27,41 %), suivi du BMI (16,19 %). Le modèle combine ces informations avec les autres variables pour produire une prédiction.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532120"/>
            <a:ext cx="45262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24141"/>
                </a:solidFill>
                <a:latin typeface="Times New Roman"/>
              </a:rPr>
              <a:t>⚠ Une variable seule ne permet pas de conclure qu'une personne est diabétique.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</a:t>
            </a:r>
            <a:r>
              <a:rPr lang="fr-FR" sz="1600" smtClean="0">
                <a:solidFill>
                  <a:srgbClr val="002060"/>
                </a:solidFill>
                <a:latin typeface="Times New Roman"/>
              </a:rPr>
              <a:t>11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/14</a:t>
            </a:r>
            <a:endParaRPr sz="160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1245638"/>
            <a:ext cx="1051560" cy="411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à coins arrondis 26"/>
          <p:cNvSpPr/>
          <p:nvPr/>
        </p:nvSpPr>
        <p:spPr>
          <a:xfrm>
            <a:off x="212035" y="1508760"/>
            <a:ext cx="6042991" cy="517104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fr-FR" sz="2200" b="1" smtClean="0">
                <a:solidFill>
                  <a:srgbClr val="10375C"/>
                </a:solidFill>
                <a:latin typeface="Times New Roman"/>
              </a:rPr>
              <a:t>10</a:t>
            </a:r>
            <a:r>
              <a:rPr sz="2200"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sz="2200" b="1">
                <a:solidFill>
                  <a:srgbClr val="10375C"/>
                </a:solidFill>
                <a:latin typeface="Times New Roman"/>
              </a:rPr>
              <a:t>— COMBIEN D’INDIVIDUS SONT PRÉDITS DIABÉTIQUES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latin typeface="Times New Roman"/>
              </a:rPr>
              <a:t>La matrice de </a:t>
            </a:r>
            <a:r>
              <a:rPr b="0" smtClean="0">
                <a:latin typeface="Times New Roman"/>
              </a:rPr>
              <a:t>confusion</a:t>
            </a:r>
            <a:r>
              <a:rPr lang="fr-FR" b="0" smtClean="0">
                <a:latin typeface="Times New Roman"/>
              </a:rPr>
              <a:t> du Random Rorest</a:t>
            </a:r>
            <a:r>
              <a:rPr b="0" smtClean="0">
                <a:latin typeface="Times New Roman"/>
              </a:rPr>
              <a:t> </a:t>
            </a:r>
            <a:r>
              <a:rPr b="0">
                <a:latin typeface="Times New Roman"/>
              </a:rPr>
              <a:t>permet de passer des pourcentages à des individus concrets.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62832"/>
            <a:ext cx="6129130" cy="50638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682495"/>
            <a:ext cx="2203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70B2"/>
                </a:solidFill>
                <a:latin typeface="Times New Roman"/>
              </a:rPr>
              <a:t>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1488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  <a:latin typeface="Times New Roman"/>
              </a:rPr>
              <a:t>prédits non diabétiques (0)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72768"/>
            <a:ext cx="24231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33688" y="1682495"/>
            <a:ext cx="2203704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70C0"/>
                </a:solidFill>
                <a:latin typeface="Times New Roman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103120"/>
            <a:ext cx="2148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B050"/>
                </a:solidFill>
                <a:latin typeface="Times New Roman"/>
              </a:rPr>
              <a:t>prédits diabétiques 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944368"/>
            <a:ext cx="48463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2D4E"/>
                </a:solidFill>
                <a:latin typeface="Times New Roman"/>
              </a:rPr>
              <a:t>DÉTAIL DES 154 PRÉDICTIONS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3337560"/>
            <a:ext cx="60161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88 TN : non diabétiques correctement classés.</a:t>
            </a:r>
          </a:p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32 TP : diabétiques correctement détectés.</a:t>
            </a:r>
          </a:p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12 FP : prédits diabétiques alors qu'ils ne le sont pas → fausses alertes.</a:t>
            </a:r>
          </a:p>
          <a:p>
            <a:pPr>
              <a:spcAft>
                <a:spcPts val="500"/>
              </a:spcAft>
              <a:defRPr sz="1350">
                <a:solidFill>
                  <a:srgbClr val="1E2630"/>
                </a:solidFill>
                <a:latin typeface="Times New Roman"/>
              </a:defRPr>
            </a:pPr>
            <a:r>
              <a:rPr sz="1600"/>
              <a:t>•  22 FN : réellement diabétiques mais prédits non diabétiques → cas manqués.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532180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370B2"/>
                </a:solidFill>
                <a:latin typeface="Times New Roman"/>
              </a:rPr>
              <a:t>Recall = 32 / (32 + 22) = 59,26 %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5715000"/>
            <a:ext cx="48920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24141"/>
                </a:solidFill>
                <a:latin typeface="Times New Roman"/>
              </a:rPr>
              <a:t>Point critique : les 22 FN montrent que le modèle ne détecte pas tous les cas diabétiques réels.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1</a:t>
            </a:r>
            <a:r>
              <a:rPr lang="fr-FR" sz="1600" smtClean="0">
                <a:solidFill>
                  <a:srgbClr val="002060"/>
                </a:solidFill>
                <a:latin typeface="Times New Roman"/>
              </a:rPr>
              <a:t>2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/14</a:t>
            </a:r>
            <a:endParaRPr sz="160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1353312"/>
            <a:ext cx="1051560" cy="411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à coins arrondis 24"/>
          <p:cNvSpPr/>
          <p:nvPr/>
        </p:nvSpPr>
        <p:spPr>
          <a:xfrm>
            <a:off x="24092" y="1262832"/>
            <a:ext cx="5686747" cy="5350897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smtClean="0">
                <a:solidFill>
                  <a:srgbClr val="10375C"/>
                </a:solidFill>
                <a:latin typeface="Times New Roman"/>
              </a:rPr>
              <a:t>1</a:t>
            </a:r>
            <a:r>
              <a:rPr lang="fr-FR" sz="2200" b="1" smtClean="0">
                <a:solidFill>
                  <a:srgbClr val="10375C"/>
                </a:solidFill>
                <a:latin typeface="Times New Roman"/>
              </a:rPr>
              <a:t>1</a:t>
            </a:r>
            <a:r>
              <a:rPr sz="2200"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sz="2200" b="1">
                <a:solidFill>
                  <a:srgbClr val="10375C"/>
                </a:solidFill>
                <a:latin typeface="Times New Roman"/>
              </a:rPr>
              <a:t>— POURQUOI CROIRE AU CHOIX DE RANDOM FOREST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660" y="855518"/>
            <a:ext cx="10972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courbe ROC permet d’identifier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le modèle le plus adapté à la prédiction du diabète.</a:t>
            </a:r>
            <a:endParaRPr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1298448"/>
            <a:ext cx="5303520" cy="4947182"/>
          </a:xfrm>
          <a:prstGeom prst="roundRect">
            <a:avLst/>
          </a:prstGeom>
          <a:solidFill>
            <a:srgbClr val="F7FAFD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2D4E"/>
                </a:solidFill>
                <a:latin typeface="Times New Roman"/>
              </a:rPr>
              <a:t>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2630"/>
                </a:solidFill>
                <a:latin typeface="Times New Roman"/>
              </a:rPr>
              <a:t>Logistique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96596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2370B2"/>
                </a:solidFill>
                <a:latin typeface="Times New Roman"/>
              </a:rPr>
              <a:t>0,813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2630"/>
                </a:solidFill>
                <a:latin typeface="Times New Roman"/>
              </a:rPr>
              <a:t>Arbre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5603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DA842D"/>
                </a:solidFill>
                <a:latin typeface="Times New Roman"/>
              </a:rPr>
              <a:t>0,636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54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E2630"/>
                </a:solidFill>
                <a:latin typeface="Times New Roman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15468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25825B"/>
                </a:solidFill>
                <a:latin typeface="Times New Roman"/>
              </a:rPr>
              <a:t>0,819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70B2"/>
                </a:solidFill>
                <a:latin typeface="Times New Roman"/>
              </a:rPr>
              <a:t>INTERPRÉTATION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79392"/>
            <a:ext cx="452628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>
                <a:solidFill>
                  <a:srgbClr val="1E2630"/>
                </a:solidFill>
                <a:latin typeface="Times New Roman"/>
              </a:rPr>
              <a:t>Une AUC plus élevée indique une meilleure capacité à distinguer les deux classes. Random Forest atteint 0,819, légèrement devant la régression logistique (0,813), tandis que l'arbre est nettement inférieur (0,636).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1</a:t>
            </a:r>
            <a:r>
              <a:rPr lang="fr-FR" sz="1600" smtClean="0">
                <a:solidFill>
                  <a:srgbClr val="002060"/>
                </a:solidFill>
                <a:latin typeface="Times New Roman"/>
              </a:rPr>
              <a:t>3</a:t>
            </a:r>
            <a:r>
              <a:rPr sz="1600" smtClean="0">
                <a:solidFill>
                  <a:srgbClr val="002060"/>
                </a:solidFill>
                <a:latin typeface="Times New Roman"/>
              </a:rPr>
              <a:t>/14</a:t>
            </a:r>
            <a:endParaRPr sz="160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1353312"/>
            <a:ext cx="1051560" cy="4114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à coins arrondis 24"/>
          <p:cNvSpPr/>
          <p:nvPr/>
        </p:nvSpPr>
        <p:spPr>
          <a:xfrm>
            <a:off x="240832" y="1489748"/>
            <a:ext cx="5809753" cy="522194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smtClean="0">
                <a:solidFill>
                  <a:srgbClr val="10375C"/>
                </a:solidFill>
                <a:latin typeface="Times New Roman"/>
              </a:rPr>
              <a:t>1</a:t>
            </a:r>
            <a:r>
              <a:rPr lang="fr-FR" sz="2200" b="1" smtClean="0">
                <a:solidFill>
                  <a:srgbClr val="10375C"/>
                </a:solidFill>
                <a:latin typeface="Times New Roman"/>
              </a:rPr>
              <a:t>2</a:t>
            </a:r>
            <a:r>
              <a:rPr sz="2200" b="1" smtClean="0">
                <a:solidFill>
                  <a:srgbClr val="10375C"/>
                </a:solidFill>
                <a:latin typeface="Times New Roman"/>
              </a:rPr>
              <a:t> </a:t>
            </a:r>
            <a:r>
              <a:rPr sz="2200" b="1">
                <a:solidFill>
                  <a:srgbClr val="10375C"/>
                </a:solidFill>
                <a:latin typeface="Times New Roman"/>
              </a:rPr>
              <a:t>— CONCLUSION : DE LA DONNÉE À LA DÉCISION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312" y="800100"/>
            <a:ext cx="6995160" cy="5385816"/>
          </a:xfrm>
          <a:prstGeom prst="roundRect">
            <a:avLst/>
          </a:prstGeom>
          <a:solidFill>
            <a:srgbClr val="193B60"/>
          </a:solidFill>
          <a:ln w="10160">
            <a:solidFill>
              <a:srgbClr val="416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4644" y="893859"/>
            <a:ext cx="584420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A0CDF0"/>
                </a:solidFill>
                <a:latin typeface="Times New Roman"/>
              </a:rPr>
              <a:t>CE QUE NOUS AVONS DÉMONTRÉ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277106"/>
            <a:ext cx="5989320" cy="4414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Times New Roman"/>
              </a:defRPr>
            </a:pPr>
            <a:r>
              <a:rPr sz="2000"/>
              <a:t>•  768 observations ont été étudiées à partir de 8 variables médicales.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Times New Roman"/>
              </a:defRPr>
            </a:pPr>
            <a:r>
              <a:rPr sz="2000"/>
              <a:t>•  Trois modèles ont été entraînés et comparés sur 154 individus de test.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Times New Roman"/>
              </a:defRPr>
            </a:pPr>
            <a:r>
              <a:rPr sz="2000"/>
              <a:t>•  Random Forest est le meilleur sur Accuracy, Precision, Recall et F1.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Times New Roman"/>
              </a:defRPr>
            </a:pPr>
            <a:r>
              <a:rPr sz="2000"/>
              <a:t>•  Il prédit 44 individus comme diabétiques : 32 sont correctement détectés et 12 sont des fausses alertes.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Times New Roman"/>
              </a:defRPr>
            </a:pPr>
            <a:r>
              <a:rPr sz="2000"/>
              <a:t>•  Il prédit 110 individus comme non diabétiques, mais 22 cas réellement diabétiques sont manqués.</a:t>
            </a:r>
          </a:p>
          <a:p>
            <a:pPr>
              <a:spcAft>
                <a:spcPts val="500"/>
              </a:spcAft>
              <a:defRPr sz="1350">
                <a:solidFill>
                  <a:srgbClr val="FFFFFF"/>
                </a:solidFill>
                <a:latin typeface="Times New Roman"/>
              </a:defRPr>
            </a:pPr>
            <a:r>
              <a:rPr sz="2000"/>
              <a:t>•  Les variables les plus importantes dans la Random Forest sont surtout Glucose, BMI, DiabetesPedigreeFunction et 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3886200" cy="51645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16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6459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825B"/>
                </a:solidFill>
                <a:latin typeface="Times New Roman"/>
              </a:rPr>
              <a:t>RANDOM FOREST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240280"/>
            <a:ext cx="3154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7" y="2350008"/>
            <a:ext cx="2935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5825B"/>
                </a:solidFill>
                <a:latin typeface="Times New Roman"/>
              </a:rPr>
              <a:t>77,92 %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70632"/>
            <a:ext cx="28803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6"/>
                </a:solidFill>
                <a:latin typeface="Times New Roman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926080"/>
            <a:ext cx="3154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7" y="3035808"/>
            <a:ext cx="2935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5825B"/>
                </a:solidFill>
                <a:latin typeface="Times New Roman"/>
              </a:rPr>
              <a:t>72,73 %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456432"/>
            <a:ext cx="28803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6"/>
                </a:solidFill>
                <a:latin typeface="Times New Roman"/>
              </a:rPr>
              <a:t>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611880"/>
            <a:ext cx="3154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0727" y="3721608"/>
            <a:ext cx="2935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70B2"/>
                </a:solidFill>
                <a:latin typeface="Times New Roman"/>
              </a:rPr>
              <a:t>59,26 %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142232"/>
            <a:ext cx="28803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6"/>
                </a:solidFill>
                <a:latin typeface="Times New Roman"/>
              </a:rPr>
              <a:t>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297680"/>
            <a:ext cx="3154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0727" y="4407408"/>
            <a:ext cx="2935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370B2"/>
                </a:solidFill>
                <a:latin typeface="Times New Roman"/>
              </a:rPr>
              <a:t>65,31 %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828032"/>
            <a:ext cx="288036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D6976"/>
                </a:solidFill>
                <a:latin typeface="Times New Roman"/>
              </a:rP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1023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2D4E"/>
                </a:solidFill>
                <a:latin typeface="Times New Roman"/>
              </a:rPr>
              <a:t>Message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413248"/>
            <a:ext cx="31546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02060"/>
                </a:solidFill>
                <a:latin typeface="Times New Roman"/>
              </a:rPr>
              <a:t>Le Machine Learning fournit une prédiction à partir des données ; il ne remplace pas un diagnostic médical.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13/14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29718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10896"/>
            <a:ext cx="68580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8620" y="310896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 smtClean="0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r>
              <a:rPr lang="en-US" b="1" smtClean="0">
                <a:solidFill>
                  <a:srgbClr val="1A237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                                                    </a:t>
            </a:r>
          </a:p>
          <a:p>
            <a:endParaRPr lang="en-US" b="1">
              <a:solidFill>
                <a:srgbClr val="1A237E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  <a:p>
            <a:r>
              <a:rPr lang="en-US" b="1" smtClean="0">
                <a:solidFill>
                  <a:srgbClr val="1A237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                                                       </a:t>
            </a:r>
            <a:r>
              <a:rPr lang="en-US" sz="2000" b="1" smtClean="0">
                <a:solidFill>
                  <a:srgbClr val="0020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MERCI </a:t>
            </a:r>
            <a:r>
              <a:rPr lang="en-US" sz="2000" b="1">
                <a:solidFill>
                  <a:srgbClr val="00206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 VOTRE ATTENTION !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0" cy="50292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73152" cy="566928"/>
          </a:xfrm>
          <a:prstGeom prst="rect">
            <a:avLst/>
          </a:prstGeom>
          <a:solidFill>
            <a:srgbClr val="23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3192" y="320040"/>
            <a:ext cx="16459" cy="566928"/>
          </a:xfrm>
          <a:prstGeom prst="rect">
            <a:avLst/>
          </a:prstGeom>
          <a:solidFill>
            <a:srgbClr val="2C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0375C"/>
                </a:solidFill>
                <a:latin typeface="Times New Roman"/>
              </a:rPr>
              <a:t>ACCÉDER AU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078992"/>
            <a:ext cx="106984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5C6773"/>
                </a:solidFill>
                <a:latin typeface="Times New Roman"/>
              </a:rPr>
              <a:t>Code source, notebook et fichiers du projet disponibles sur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2148840" cy="2148840"/>
          </a:xfrm>
          <a:prstGeom prst="roundRect">
            <a:avLst/>
          </a:prstGeom>
          <a:solidFill>
            <a:srgbClr val="19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221992"/>
            <a:ext cx="1536192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Times New Roman"/>
              </a:rPr>
              <a:t>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072384"/>
            <a:ext cx="1783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GitHub</a:t>
            </a:r>
          </a:p>
        </p:txBody>
      </p:sp>
      <p:pic>
        <p:nvPicPr>
          <p:cNvPr id="12" name="Picture 11" descr="github_projet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2423160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93008" y="4370832"/>
            <a:ext cx="2788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0375C"/>
                </a:solidFill>
                <a:latin typeface="Times New Roman"/>
              </a:rPr>
              <a:t>SCANNEZ POUR OUVRIR LE PROJET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83080"/>
            <a:ext cx="4709160" cy="3063240"/>
          </a:xfrm>
          <a:prstGeom prst="roundRect">
            <a:avLst/>
          </a:prstGeom>
          <a:solidFill>
            <a:srgbClr val="E2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4848" y="2148840"/>
            <a:ext cx="3977639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10375C"/>
                </a:solidFill>
                <a:latin typeface="Times New Roman"/>
              </a:rPr>
              <a:t>Projet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761488"/>
            <a:ext cx="3886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191F26"/>
                </a:solidFill>
                <a:latin typeface="Times New Roman"/>
              </a:rPr>
              <a:t>Retrouvez :
• le code Python / Machine Learning
• le notebook et les étapes de traitement
• les résultats et éléments du projet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6784848" y="4160520"/>
            <a:ext cx="3794760" cy="502920"/>
          </a:xfrm>
          <a:prstGeom prst="roundRect">
            <a:avLst/>
          </a:prstGeom>
          <a:solidFill>
            <a:srgbClr val="10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4215384"/>
            <a:ext cx="3566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OUVRIR LE PROJET SUR GITHUB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30368"/>
            <a:ext cx="101955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2505451" y="5310878"/>
            <a:ext cx="701345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0">
                <a:solidFill>
                  <a:srgbClr val="00B0F0"/>
                </a:solidFill>
                <a:latin typeface="Times New Roman"/>
              </a:rPr>
              <a:t>https://github.com/mhdsene41-cmyk/prediction-diabete-machine-learning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4746" y="6473952"/>
            <a:ext cx="39024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002060"/>
                </a:solidFill>
                <a:latin typeface="Times New Roman"/>
              </a:rPr>
              <a:t>Projet ML — Prédiction du diabète   |   14/14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1642</Words>
  <Application>Microsoft Office PowerPoint</Application>
  <PresentationFormat>Grand écran</PresentationFormat>
  <Paragraphs>281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Montserrat ExtraBold</vt:lpstr>
      <vt:lpstr>Montserrat Light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MHD☘️🏀🌟</dc:creator>
  <cp:keywords/>
  <dc:description>generated using python-pptx</dc:description>
  <cp:lastModifiedBy>MHD</cp:lastModifiedBy>
  <cp:revision>39</cp:revision>
  <dcterms:created xsi:type="dcterms:W3CDTF">2013-01-27T09:14:16Z</dcterms:created>
  <dcterms:modified xsi:type="dcterms:W3CDTF">2026-10-10T12:37:24Z</dcterms:modified>
  <cp:category/>
</cp:coreProperties>
</file>